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82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418320" y="-1554480"/>
            <a:ext cx="4480560" cy="4480560"/>
          </a:xfrm>
          <a:prstGeom prst="ellipse">
            <a:avLst/>
          </a:prstGeom>
          <a:solidFill>
            <a:srgbClr val="9B7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972800" y="4572000"/>
            <a:ext cx="2377440" cy="2377440"/>
          </a:xfrm>
          <a:prstGeom prst="ellipse">
            <a:avLst/>
          </a:prstGeom>
          <a:solidFill>
            <a:srgbClr val="522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04120" y="2788920"/>
            <a:ext cx="457200" cy="45720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27080" y="3310128"/>
            <a:ext cx="274320" cy="27432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9B78F7"/>
                </a:solidFill>
                <a:latin typeface="IBM Plex Sans"/>
              </a:rPr>
              <a:t>DEEP LEARNING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85953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>
                <a:solidFill>
                  <a:srgbClr val="522CBA"/>
                </a:solidFill>
                <a:latin typeface="IBM Plex Sans"/>
              </a:rPr>
              <a:t>CIFAR-10 with</a:t>
            </a:r>
          </a:p>
          <a:p>
            <a:pPr algn="l"/>
            <a:r>
              <a:rPr sz="4600" b="1">
                <a:solidFill>
                  <a:srgbClr val="522CBA"/>
                </a:solidFill>
                <a:latin typeface="IBM Plex Sans"/>
              </a:rPr>
              <a:t>Dense Networks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68496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IBM Plex Sans"/>
              </a:rPr>
              <a:t>How far can a fully connected network see, with no convolution allowed?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754880"/>
            <a:ext cx="118872" cy="118872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956048"/>
            <a:ext cx="19659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522CBA"/>
                </a:solidFill>
                <a:latin typeface="IBM Plex Sans"/>
              </a:rPr>
              <a:t>3,072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BM Plex Sans"/>
              </a:rPr>
              <a:t>inputs per image</a:t>
            </a:r>
          </a:p>
        </p:txBody>
      </p:sp>
      <p:sp>
        <p:nvSpPr>
          <p:cNvPr id="12" name="Oval 11"/>
          <p:cNvSpPr/>
          <p:nvPr/>
        </p:nvSpPr>
        <p:spPr>
          <a:xfrm>
            <a:off x="2971800" y="4754880"/>
            <a:ext cx="118872" cy="11887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71800" y="4956048"/>
            <a:ext cx="19659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522CBA"/>
                </a:solidFill>
                <a:latin typeface="IBM Plex Sans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544068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BM Plex Sans"/>
              </a:rPr>
              <a:t>experiments</a:t>
            </a:r>
          </a:p>
        </p:txBody>
      </p:sp>
      <p:sp>
        <p:nvSpPr>
          <p:cNvPr id="15" name="Oval 14"/>
          <p:cNvSpPr/>
          <p:nvPr/>
        </p:nvSpPr>
        <p:spPr>
          <a:xfrm>
            <a:off x="5120640" y="4754880"/>
            <a:ext cx="118872" cy="118872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4956048"/>
            <a:ext cx="19659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522CBA"/>
                </a:solidFill>
                <a:latin typeface="IBM Plex Sans"/>
              </a:rPr>
              <a:t>52.94%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544068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BM Plex Sans"/>
              </a:rPr>
              <a:t>test accuracy</a:t>
            </a:r>
          </a:p>
        </p:txBody>
      </p:sp>
      <p:sp>
        <p:nvSpPr>
          <p:cNvPr id="18" name="Oval 17"/>
          <p:cNvSpPr/>
          <p:nvPr/>
        </p:nvSpPr>
        <p:spPr>
          <a:xfrm>
            <a:off x="7269480" y="4754880"/>
            <a:ext cx="118872" cy="11887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9480" y="4956048"/>
            <a:ext cx="19659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522CBA"/>
                </a:solidFill>
                <a:latin typeface="IBM Plex Sans"/>
              </a:rPr>
              <a:t>58.36%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5440680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BM Plex Sans"/>
              </a:rPr>
              <a:t>best with augmentation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61888"/>
            <a:ext cx="87782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522CBA"/>
                </a:solidFill>
                <a:latin typeface="IBM Plex Sans"/>
              </a:rPr>
              <a:t>Khali</a:t>
            </a:r>
            <a:r>
              <a:rPr lang="en-US" sz="1400" b="1" dirty="0">
                <a:solidFill>
                  <a:srgbClr val="522CBA"/>
                </a:solidFill>
                <a:latin typeface="IBM Plex Sans"/>
              </a:rPr>
              <a:t>d - Wasan</a:t>
            </a:r>
            <a:endParaRPr sz="1400" b="1" dirty="0">
              <a:solidFill>
                <a:srgbClr val="522CBA"/>
              </a:solidFill>
              <a:latin typeface="IBM Plex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6291072"/>
            <a:ext cx="8229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0" dirty="0">
                <a:solidFill>
                  <a:srgbClr val="000000"/>
                </a:solidFill>
                <a:latin typeface="IBM Plex Sans"/>
              </a:rPr>
              <a:t>Building &amp; Developing AI Models Bootcamp</a:t>
            </a:r>
            <a:endParaRPr sz="1200" b="0" dirty="0">
              <a:solidFill>
                <a:srgbClr val="000000"/>
              </a:solidFill>
              <a:latin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522CBA"/>
                </a:solidFill>
                <a:latin typeface="IBM Plex Sans"/>
              </a:rPr>
              <a:t>One rule shapes everything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B78F7"/>
                </a:solidFill>
                <a:latin typeface="IBM Plex Sans"/>
              </a:rPr>
              <a:t>No CNN, no Conv2D, no pretrained weights, no transfer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3566160" cy="338328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7" y="1874519"/>
            <a:ext cx="137160" cy="13716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" y="177393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9B78F7"/>
                </a:solidFill>
                <a:latin typeface="IBM Plex Sans"/>
              </a:rPr>
              <a:t>The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31136"/>
            <a:ext cx="3017520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CIFAR-10, ten mutually exclusive classes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60,000 colour images at 32 x 32 x 3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Softmax output, sparse categorical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cross-entropy 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572768"/>
            <a:ext cx="3566160" cy="338328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90288" y="1874519"/>
            <a:ext cx="137160" cy="13716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55464" y="177393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9B78F7"/>
                </a:solidFill>
                <a:latin typeface="IBM Plex Sans"/>
              </a:rPr>
              <a:t>The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31136"/>
            <a:ext cx="3017520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Dense layers only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Every image must be flattened before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it reaches the first layer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32 x 32 x 3  becomes  3,072 x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572768"/>
            <a:ext cx="3575304" cy="338328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39328" y="1874519"/>
            <a:ext cx="137160" cy="13716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04504" y="1773936"/>
            <a:ext cx="27523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9B78F7"/>
                </a:solidFill>
                <a:latin typeface="IBM Plex Sans"/>
              </a:rPr>
              <a:t>What that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231136"/>
            <a:ext cx="3026664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One weight per pixel position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No translation invariance: shift an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object three pixels and almost every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input value changes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The network must learn the same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object again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38928"/>
            <a:ext cx="11073384" cy="786384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9536" y="5449824"/>
            <a:ext cx="164592" cy="16459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0432" y="5230368"/>
            <a:ext cx="1015898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22CBA"/>
                </a:solidFill>
                <a:latin typeface="IBM Plex Sans"/>
              </a:rPr>
              <a:t>That single decision sets the ceiling for every experiment that follows.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522CBA"/>
                </a:solidFill>
                <a:latin typeface="IBM Plex Sans"/>
              </a:rPr>
              <a:t>The data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B78F7"/>
                </a:solidFill>
                <a:latin typeface="IBM Plex Sans"/>
              </a:rPr>
              <a:t>One row is one 32 x 32 colour image, ten balanced classes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5760720" cy="270539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1-02_cell17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682496"/>
            <a:ext cx="5541263" cy="248594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10528" y="1572768"/>
            <a:ext cx="5129784" cy="33611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1-02_cell16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1682496"/>
            <a:ext cx="4910328" cy="3141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4572000"/>
            <a:ext cx="5760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522CBA"/>
                </a:solidFill>
                <a:latin typeface="IBM Plex Sans"/>
              </a:rPr>
              <a:t>One example of each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4572000"/>
            <a:ext cx="51297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522CBA"/>
                </a:solidFill>
                <a:latin typeface="IBM Plex Sans"/>
              </a:rPr>
              <a:t>Fifteen random training images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138928"/>
            <a:ext cx="11073384" cy="786384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9536" y="5449824"/>
            <a:ext cx="164592" cy="16459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2" y="5230368"/>
            <a:ext cx="1015898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22CBA"/>
                </a:solidFill>
                <a:latin typeface="IBM Plex Sans"/>
              </a:rPr>
              <a:t>Ten mutually exclusive classes at 32 x 32 pixels. At this resolution the animal classes already look alike.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522CBA"/>
                </a:solidFill>
                <a:latin typeface="IBM Plex Sans"/>
              </a:rPr>
              <a:t>Preparation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B78F7"/>
                </a:solidFill>
                <a:latin typeface="IBM Plex Sans"/>
              </a:rPr>
              <a:t>Scaled, split once, and committed so every experiment shares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4206240" cy="1673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1-02_cell12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962" y="1682495"/>
            <a:ext cx="3378170" cy="14538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3337560"/>
            <a:ext cx="4206240" cy="1673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1-02_cell13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62" y="3447288"/>
            <a:ext cx="3378170" cy="145389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956048" y="1572768"/>
            <a:ext cx="3657600" cy="172605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01-02_cell09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1682495"/>
            <a:ext cx="3438144" cy="15066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56048" y="333756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522CBA"/>
                </a:solidFill>
                <a:latin typeface="IBM Plex Sans"/>
              </a:rPr>
              <a:t>Exactly 6,000 images per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96528" y="1572768"/>
            <a:ext cx="2843784" cy="338328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070848" y="1874519"/>
            <a:ext cx="137160" cy="13716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36024" y="1773936"/>
            <a:ext cx="20208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9B78F7"/>
                </a:solidFill>
                <a:latin typeface="IBM Plex Sans"/>
              </a:rPr>
              <a:t>The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231136"/>
            <a:ext cx="2295144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45,000 train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5,000 validation, stratified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10,000 test, untouched until Part 16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Pixels scaled to [0, 1]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Indices saved to splits.npz and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committed to git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38928"/>
            <a:ext cx="11073384" cy="786384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9536" y="5449824"/>
            <a:ext cx="164592" cy="16459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70432" y="5230368"/>
            <a:ext cx="1015898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22CBA"/>
                </a:solidFill>
                <a:latin typeface="IBM Plex Sans"/>
              </a:rPr>
              <a:t>The test set is opened once, at the very end. Every tuning decision is made on validation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522CBA"/>
                </a:solidFill>
                <a:latin typeface="IBM Plex Sans"/>
              </a:rPr>
              <a:t>Part 3 - The baseline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B78F7"/>
                </a:solidFill>
                <a:latin typeface="IBM Plex Sans"/>
              </a:rPr>
              <a:t>One hidden layer, 512 units, Adam at 0.0001, batch 128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786384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308_cell10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989273"/>
            <a:ext cx="7644383" cy="255026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13648" y="1572768"/>
            <a:ext cx="3026664" cy="160020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87968" y="1874519"/>
            <a:ext cx="137160" cy="13716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87968" y="2139696"/>
            <a:ext cx="24780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522CBA"/>
                </a:solidFill>
                <a:latin typeface="IBM Plex Sans"/>
              </a:rPr>
              <a:t>52.22%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2651760"/>
            <a:ext cx="24780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BM Plex Sans"/>
              </a:rPr>
              <a:t>best validation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13648" y="3355848"/>
            <a:ext cx="3026664" cy="160020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887968" y="3657600"/>
            <a:ext cx="137160" cy="13716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87968" y="3922776"/>
            <a:ext cx="24780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522CBA"/>
                </a:solidFill>
                <a:latin typeface="IBM Plex Sans"/>
              </a:rPr>
              <a:t>1,578,506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4434840"/>
            <a:ext cx="247802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BM Plex Sans"/>
              </a:rPr>
              <a:t>trainable parameters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138928"/>
            <a:ext cx="11073384" cy="786384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9536" y="5449824"/>
            <a:ext cx="164592" cy="16459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5230368"/>
            <a:ext cx="1015898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22CBA"/>
                </a:solidFill>
                <a:latin typeface="IBM Plex Sans"/>
              </a:rPr>
              <a:t>About 5x the 10% random-guess floor, and 99.7% of those parameters sit in the very first layer.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522CBA"/>
                </a:solidFill>
                <a:latin typeface="IBM Plex Sans"/>
              </a:rPr>
              <a:t>Parts 4-6 - Three depths, one width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B78F7"/>
                </a:solidFill>
                <a:latin typeface="IBM Plex Sans"/>
              </a:rPr>
              <a:t>Same data, same seed, same hyperparameters, only depth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522CBA"/>
                </a:solidFill>
                <a:latin typeface="IBM Plex Sans"/>
              </a:rPr>
              <a:t>Shallow  1 x 512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93392"/>
            <a:ext cx="3566160" cy="133596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308_cell22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103120"/>
            <a:ext cx="3346703" cy="111650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657600"/>
            <a:ext cx="3566160" cy="118872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7" y="3913632"/>
            <a:ext cx="137160" cy="13716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4169663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522CBA"/>
                </a:solidFill>
                <a:latin typeface="IBM Plex Sans"/>
              </a:rPr>
              <a:t>52.22%   gap 0.15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162763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522CBA"/>
                </a:solidFill>
                <a:latin typeface="IBM Plex Sans"/>
              </a:rPr>
              <a:t>Medium  3 x 512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993392"/>
            <a:ext cx="3566160" cy="133596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308_cell24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2103120"/>
            <a:ext cx="3346703" cy="111650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315968" y="3657600"/>
            <a:ext cx="3566160" cy="118872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90288" y="3913632"/>
            <a:ext cx="137160" cy="13716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0288" y="4169663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522CBA"/>
                </a:solidFill>
                <a:latin typeface="IBM Plex Sans"/>
              </a:rPr>
              <a:t>52.40%   gap 0.30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7" y="162763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522CBA"/>
                </a:solidFill>
                <a:latin typeface="IBM Plex Sans"/>
              </a:rPr>
              <a:t>Deep  5 x 512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7" y="1993392"/>
            <a:ext cx="3566160" cy="133596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0308_cell26_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5" y="2103120"/>
            <a:ext cx="3346703" cy="111650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065007" y="3657600"/>
            <a:ext cx="3566160" cy="118872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39327" y="3913632"/>
            <a:ext cx="137160" cy="13716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9327" y="4169663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522CBA"/>
                </a:solidFill>
                <a:latin typeface="IBM Plex Sans"/>
              </a:rPr>
              <a:t>52.98%   gap 0.33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138928"/>
            <a:ext cx="11073384" cy="786384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59536" y="5449824"/>
            <a:ext cx="164592" cy="16459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0432" y="5230368"/>
            <a:ext cx="1015898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22CBA"/>
                </a:solidFill>
                <a:latin typeface="IBM Plex Sans"/>
              </a:rPr>
              <a:t>Depth barely moves validation accuracy, but it steadily widens the gap between training and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522CBA"/>
                </a:solidFill>
                <a:latin typeface="IBM Plex Sans"/>
              </a:rPr>
              <a:t>Part 7 - The comparison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B78F7"/>
                </a:solidFill>
                <a:latin typeface="IBM Plex Sans"/>
              </a:rPr>
              <a:t>All three land within 38 images of each other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7498079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308_cell29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023092"/>
            <a:ext cx="7278623" cy="24826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47888" y="1572768"/>
            <a:ext cx="3392424" cy="1024128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22208" y="1773936"/>
            <a:ext cx="137160" cy="13716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96528" y="170078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522CBA"/>
                </a:solidFill>
                <a:latin typeface="IBM Plex Sans"/>
              </a:rPr>
              <a:t>52.22%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22208" y="2157984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IBM Plex Sans"/>
              </a:rPr>
              <a:t>Shallow  gap 0.15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7888" y="2734056"/>
            <a:ext cx="3392424" cy="1024128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22208" y="2935224"/>
            <a:ext cx="137160" cy="13716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96528" y="286207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522CBA"/>
                </a:solidFill>
                <a:latin typeface="IBM Plex Sans"/>
              </a:rPr>
              <a:t>52.40%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3319272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IBM Plex Sans"/>
              </a:rPr>
              <a:t>Medium  gap 0.30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3895344"/>
            <a:ext cx="3392424" cy="1024128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22208" y="4096512"/>
            <a:ext cx="137160" cy="13716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96528" y="40233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522CBA"/>
                </a:solidFill>
                <a:latin typeface="IBM Plex Sans"/>
              </a:rPr>
              <a:t>52.98%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448056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IBM Plex Sans"/>
              </a:rPr>
              <a:t>Deep  gap 0.33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138928"/>
            <a:ext cx="11073384" cy="786384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9536" y="5449824"/>
            <a:ext cx="164592" cy="16459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0432" y="5230368"/>
            <a:ext cx="1015898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22CBA"/>
                </a:solidFill>
                <a:latin typeface="IBM Plex Sans"/>
              </a:rPr>
              <a:t>0.76 points apart on a 5,000-image validation set is inside the noise. Depth bought overfitting, not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522CBA"/>
                </a:solidFill>
                <a:latin typeface="IBM Plex Sans"/>
              </a:rPr>
              <a:t>Part 8 - The diagnosis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B78F7"/>
                </a:solidFill>
                <a:latin typeface="IBM Plex Sans"/>
              </a:rPr>
              <a:t>Medium, 3 x 512, 2,103,818 parameters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3931920" cy="273920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920_cell07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682496"/>
            <a:ext cx="3712463" cy="251974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681728" y="1572768"/>
            <a:ext cx="3931920" cy="273920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920_cell08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1682496"/>
            <a:ext cx="3712463" cy="251974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796528" y="1572768"/>
            <a:ext cx="2843784" cy="338328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070848" y="1874519"/>
            <a:ext cx="137160" cy="13716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36024" y="1773936"/>
            <a:ext cx="20208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9B78F7"/>
                </a:solidFill>
                <a:latin typeface="IBM Plex Sans"/>
              </a:rPr>
              <a:t>Overfitting, from epoch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0848" y="2231136"/>
            <a:ext cx="2295144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Training loss falls all 50 epochs,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1.845 to 0.542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Validation loss bottoms at 1.4024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then rises 27% to 1.7835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Training accuracy reaches 0.820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and is still climbing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Fix: Early Stopping, best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weights restored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138928"/>
            <a:ext cx="11073384" cy="786384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" y="5449824"/>
            <a:ext cx="164592" cy="16459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5230368"/>
            <a:ext cx="1015898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22CBA"/>
                </a:solidFill>
                <a:latin typeface="IBM Plex Sans"/>
              </a:rPr>
              <a:t>The gap widens from 0.0759 at the best epoch to 0.2993 by epoch 50.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522CBA"/>
                </a:solidFill>
                <a:latin typeface="IBM Plex Sans"/>
              </a:rPr>
              <a:t>Part 9 - Learning rate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B78F7"/>
                </a:solidFill>
                <a:latin typeface="IBM Plex Sans"/>
              </a:rPr>
              <a:t>0.01 / 0.001 / 0.0001, everything else held fixed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3566160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920_cell16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482" y="1627631"/>
            <a:ext cx="2129050" cy="14264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315968" y="1572768"/>
            <a:ext cx="3566160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920_cell16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09" y="1627631"/>
            <a:ext cx="2101677" cy="14264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65007" y="1572768"/>
            <a:ext cx="3566160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920_cell16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7249" y="1627631"/>
            <a:ext cx="2101677" cy="142646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3200400"/>
            <a:ext cx="3566160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920_cell16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9169" y="3255264"/>
            <a:ext cx="2101677" cy="14264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315968" y="3200400"/>
            <a:ext cx="3566160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920_cell16_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209" y="3255264"/>
            <a:ext cx="2101677" cy="142646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065007" y="3200400"/>
            <a:ext cx="3566160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920_cell16_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7249" y="3255264"/>
            <a:ext cx="2101677" cy="1426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" y="480974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522CBA"/>
                </a:solidFill>
                <a:latin typeface="IBM Plex Sans"/>
              </a:rPr>
              <a:t>0.01  -&gt;  37.02%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480974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522CBA"/>
                </a:solidFill>
                <a:latin typeface="IBM Plex Sans"/>
              </a:rPr>
              <a:t>0.001  -&gt;  47.52%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7" y="480974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522CBA"/>
                </a:solidFill>
                <a:latin typeface="IBM Plex Sans"/>
              </a:rPr>
              <a:t>0.0001  -&gt;  53.16%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38928"/>
            <a:ext cx="11073384" cy="786384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9536" y="5449824"/>
            <a:ext cx="164592" cy="16459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70432" y="5230368"/>
            <a:ext cx="1015898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22CBA"/>
                </a:solidFill>
                <a:latin typeface="IBM Plex Sans"/>
              </a:rPr>
              <a:t>0.0001 wins on both accuracy and loss. At 0.001 the model peaks by epoch 12 then diverges to a loss of 3.13.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522CBA"/>
                </a:solidFill>
                <a:latin typeface="IBM Plex Sans"/>
              </a:rPr>
              <a:t>Part 10 - Batch size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B78F7"/>
                </a:solidFill>
                <a:latin typeface="IBM Plex Sans"/>
              </a:rPr>
              <a:t>16 / 32 / 64 / 128 at the selected learning 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2670048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920_cell24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41" y="1618488"/>
            <a:ext cx="2128621" cy="144475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364992" y="1572768"/>
            <a:ext cx="2670048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920_cell24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705" y="1618488"/>
            <a:ext cx="2128621" cy="144475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63056" y="1572768"/>
            <a:ext cx="2670048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920_cell24_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769" y="1618488"/>
            <a:ext cx="2128621" cy="144475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61119" y="1572768"/>
            <a:ext cx="2670048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920_cell24_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1833" y="1618488"/>
            <a:ext cx="2128621" cy="144475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66928" y="3200400"/>
            <a:ext cx="2670048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920_cell24_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41" y="3246120"/>
            <a:ext cx="2128621" cy="144475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364992" y="3200400"/>
            <a:ext cx="2670048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920_cell24_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5705" y="3246120"/>
            <a:ext cx="2128621" cy="1444751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163056" y="3200400"/>
            <a:ext cx="2670048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920_cell24_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906" y="3246120"/>
            <a:ext cx="2156346" cy="1444751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961119" y="3200400"/>
            <a:ext cx="2670048" cy="15361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920_cell24_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1833" y="3246120"/>
            <a:ext cx="2128621" cy="14447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928" y="4809744"/>
            <a:ext cx="2670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522CBA"/>
                </a:solidFill>
                <a:latin typeface="IBM Plex Sans"/>
              </a:rPr>
              <a:t>16 -&gt; 49.78%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4809744"/>
            <a:ext cx="2670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522CBA"/>
                </a:solidFill>
                <a:latin typeface="IBM Plex Sans"/>
              </a:rPr>
              <a:t>32 -&gt; 50.46%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6" y="4809744"/>
            <a:ext cx="2670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522CBA"/>
                </a:solidFill>
                <a:latin typeface="IBM Plex Sans"/>
              </a:rPr>
              <a:t>64 -&gt; 51.82%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9" y="4809744"/>
            <a:ext cx="2670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522CBA"/>
                </a:solidFill>
                <a:latin typeface="IBM Plex Sans"/>
              </a:rPr>
              <a:t>128 -&gt; 52.14%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138928"/>
            <a:ext cx="11073384" cy="786384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59536" y="5449824"/>
            <a:ext cx="164592" cy="16459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70432" y="5230368"/>
            <a:ext cx="1015898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22CBA"/>
                </a:solidFill>
                <a:latin typeface="IBM Plex Sans"/>
              </a:rPr>
              <a:t>Accuracy improved at every step. Batch 16 reached 94% training accuracy and a validation loss of 3.42.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522CBA"/>
                </a:solidFill>
                <a:latin typeface="IBM Plex Sans"/>
              </a:rPr>
              <a:t>Part 11 - Optimizer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B78F7"/>
                </a:solidFill>
                <a:latin typeface="IBM Plex Sans"/>
              </a:rPr>
              <a:t>Adam at 0.0001 against SGD at 0.01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425196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920_cell31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49403"/>
            <a:ext cx="4032504" cy="283000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01768" y="1572768"/>
            <a:ext cx="425196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920_cell32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96" y="1832842"/>
            <a:ext cx="4032504" cy="286313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436608" y="1572768"/>
            <a:ext cx="2203704" cy="338328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710928" y="1874519"/>
            <a:ext cx="137160" cy="13716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6104" y="1773936"/>
            <a:ext cx="13807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9B78F7"/>
                </a:solidFill>
                <a:latin typeface="IBM Plex Sans"/>
              </a:rPr>
              <a:t>Adam wins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0928" y="2231136"/>
            <a:ext cx="1655064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52.56% against 50.30%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Min val loss 1.3957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against 1.4592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Peaks at epoch 29;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SGD is still climbing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at epoch 49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138928"/>
            <a:ext cx="11073384" cy="786384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" y="5449824"/>
            <a:ext cx="164592" cy="16459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5230368"/>
            <a:ext cx="1015898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22CBA"/>
                </a:solidFill>
                <a:latin typeface="IBM Plex Sans"/>
              </a:rPr>
              <a:t>The learning rates differ on purpose: Adam normalises its steps, so matched rates would cripple SGD.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522CBA"/>
                </a:solidFill>
                <a:latin typeface="IBM Plex Sans"/>
              </a:rPr>
              <a:t>Part 12 - Regularization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B78F7"/>
                </a:solidFill>
                <a:latin typeface="IBM Plex Sans"/>
              </a:rPr>
              <a:t>Dropout 0.3, Early Stopping and L2 against an unregularized 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425196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920_cell40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990248"/>
            <a:ext cx="4032504" cy="25483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01768" y="1572768"/>
            <a:ext cx="425196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920_cell41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96" y="1963138"/>
            <a:ext cx="4032504" cy="260253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436608" y="1572768"/>
            <a:ext cx="2203704" cy="338328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710928" y="1874519"/>
            <a:ext cx="137160" cy="13716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6104" y="1773936"/>
            <a:ext cx="13807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9B78F7"/>
                </a:solidFill>
                <a:latin typeface="IBM Plex Sans"/>
              </a:rPr>
              <a:t>Dropout wins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0928" y="2231136"/>
            <a:ext cx="1655064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52.42% accuracy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Gap 29.96%  -&gt;  6.17%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Val loss 1.3328,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the lowest of the four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Early Stopping 51.96%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L2 51.82%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138928"/>
            <a:ext cx="11073384" cy="786384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" y="5449824"/>
            <a:ext cx="164592" cy="16459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5230368"/>
            <a:ext cx="1015898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22CBA"/>
                </a:solidFill>
                <a:latin typeface="IBM Plex Sans"/>
              </a:rPr>
              <a:t>Dropout is the only technique that closes the gap rather than trimming it. L2 barely moves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522CBA"/>
                </a:solidFill>
                <a:latin typeface="IBM Plex Sans"/>
              </a:rPr>
              <a:t>Part 13 - Batch Normalization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B78F7"/>
                </a:solidFill>
                <a:latin typeface="IBM Plex Sans"/>
              </a:rPr>
              <a:t>The same network, with and without BatchNorm after each Dense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425196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920_cell48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990248"/>
            <a:ext cx="4032504" cy="25483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01768" y="1572768"/>
            <a:ext cx="425196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920_cell49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96" y="1963138"/>
            <a:ext cx="4032504" cy="260253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436608" y="1572768"/>
            <a:ext cx="2203704" cy="338328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710928" y="1874519"/>
            <a:ext cx="137160" cy="13716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76104" y="1773936"/>
            <a:ext cx="13807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9B78F7"/>
                </a:solidFill>
                <a:latin typeface="IBM Plex Sans"/>
              </a:rPr>
              <a:t>It backfired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0928" y="2231136"/>
            <a:ext cx="1655064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Train 99.13%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Validation 44.88%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Gap 54.25%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Final val loss 3.8244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Best val accuracy fell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from 53.00% to 44.88%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138928"/>
            <a:ext cx="11073384" cy="786384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" y="5449824"/>
            <a:ext cx="164592" cy="16459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5230368"/>
            <a:ext cx="1015898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22CBA"/>
                </a:solidFill>
                <a:latin typeface="IBM Plex Sans"/>
              </a:rPr>
              <a:t>The clearest demonstration in the project that high training accuracy is not evidence of a good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522CBA"/>
                </a:solidFill>
                <a:latin typeface="IBM Plex Sans"/>
              </a:rPr>
              <a:t>Part 14 - Ablation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B78F7"/>
                </a:solidFill>
                <a:latin typeface="IBM Plex Sans"/>
              </a:rPr>
              <a:t>One variable removed, everything else identical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694944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920_cell55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478" y="1682496"/>
            <a:ext cx="4954339" cy="316382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99248" y="1572768"/>
            <a:ext cx="3941063" cy="160020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973568" y="1874519"/>
            <a:ext cx="137160" cy="13716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38744" y="1773936"/>
            <a:ext cx="3118103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9B78F7"/>
                </a:solidFill>
                <a:latin typeface="IBM Plex Sans"/>
              </a:rPr>
              <a:t>L2 helps the 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231136"/>
            <a:ext cx="339242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Final validation accuracy 51.92% against 50.60%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Gap 27.72% against 31.95%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9248" y="3355848"/>
            <a:ext cx="3941063" cy="160020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973568" y="3657600"/>
            <a:ext cx="137160" cy="13716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38744" y="3557016"/>
            <a:ext cx="3118103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9B78F7"/>
                </a:solidFill>
                <a:latin typeface="IBM Plex Sans"/>
              </a:rPr>
              <a:t>But not the peak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4014215"/>
            <a:ext cx="3392423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Best validation accuracy 52.92% with L2,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52.94% without: one image out of 5,000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138928"/>
            <a:ext cx="11073384" cy="786384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9536" y="5449824"/>
            <a:ext cx="164592" cy="16459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5230368"/>
            <a:ext cx="1015898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22CBA"/>
                </a:solidFill>
                <a:latin typeface="IBM Plex Sans"/>
              </a:rPr>
              <a:t>L2 limits how far the model overfits by epoch 50. It does not raise the best result the model reaches.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522CBA"/>
                </a:solidFill>
                <a:latin typeface="IBM Plex Sans"/>
              </a:rPr>
              <a:t>Parts 15-16 - Final model and test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B78F7"/>
                </a:solidFill>
                <a:latin typeface="IBM Plex Sans"/>
              </a:rPr>
              <a:t>3 x 512, Adam 0.0001, batch 128, L2 0.0001, Early Stopping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393192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920_cell61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19" y="1682496"/>
            <a:ext cx="3540137" cy="316382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681728" y="1572768"/>
            <a:ext cx="3383280" cy="338328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56048" y="1874519"/>
            <a:ext cx="137160" cy="13716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21224" y="1773936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9B78F7"/>
                </a:solidFill>
                <a:latin typeface="IBM Plex Sans"/>
              </a:rPr>
              <a:t>Per-class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2231136"/>
            <a:ext cx="2834640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automobile  0.64      frog  0.58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ship  0.63           truck  0.58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horse  0.59          deer  0.45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airplane  0.59      bird  0.43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                              dog  0.41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                              cat  0.36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7888" y="1572768"/>
            <a:ext cx="1645920" cy="160020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22208" y="1874519"/>
            <a:ext cx="137160" cy="13716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22208" y="2139696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522CBA"/>
                </a:solidFill>
                <a:latin typeface="IBM Plex Sans"/>
              </a:rPr>
              <a:t>52.94%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265176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BM Plex Sans"/>
              </a:rPr>
              <a:t>test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94392" y="1572768"/>
            <a:ext cx="1645920" cy="160020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268712" y="1874519"/>
            <a:ext cx="137160" cy="13716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68712" y="2139696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522CBA"/>
                </a:solidFill>
                <a:latin typeface="IBM Plex Sans"/>
              </a:rPr>
              <a:t>52.43%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68712" y="265176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BM Plex Sans"/>
              </a:rPr>
              <a:t>weighted F1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7888" y="3355848"/>
            <a:ext cx="1645920" cy="160020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22208" y="3657600"/>
            <a:ext cx="137160" cy="13716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22208" y="3922776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522CBA"/>
                </a:solidFill>
                <a:latin typeface="IBM Plex Sans"/>
              </a:rPr>
              <a:t>1.4837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443484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BM Plex Sans"/>
              </a:rPr>
              <a:t>test loss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94392" y="3355848"/>
            <a:ext cx="1645920" cy="160020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68712" y="3657600"/>
            <a:ext cx="137160" cy="13716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68712" y="3922776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522CBA"/>
                </a:solidFill>
                <a:latin typeface="IBM Plex Sans"/>
              </a:rPr>
              <a:t>2.1M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68712" y="443484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BM Plex Sans"/>
              </a:rPr>
              <a:t>parameters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138928"/>
            <a:ext cx="11073384" cy="786384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59536" y="5449824"/>
            <a:ext cx="164592" cy="16459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70432" y="5230368"/>
            <a:ext cx="1015898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22CBA"/>
                </a:solidFill>
                <a:latin typeface="IBM Plex Sans"/>
              </a:rPr>
              <a:t>The test set was opened exactly once, after every architecture and hyperparameter decision was final.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522CBA"/>
                </a:solidFill>
                <a:latin typeface="IBM Plex Sans"/>
              </a:rPr>
              <a:t>Part 17 - Where it fails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B78F7"/>
                </a:solidFill>
                <a:latin typeface="IBM Plex Sans"/>
              </a:rPr>
              <a:t>The mistakes are concentrated between visually similar classes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7498079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920_cell64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66" y="1682496"/>
            <a:ext cx="6370402" cy="316382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47888" y="1572768"/>
            <a:ext cx="3392424" cy="160020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22208" y="1874519"/>
            <a:ext cx="137160" cy="13716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87384" y="1773936"/>
            <a:ext cx="25694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9B78F7"/>
                </a:solidFill>
                <a:latin typeface="IBM Plex Sans"/>
              </a:rPr>
              <a:t>Hardest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22208" y="2231136"/>
            <a:ext cx="284378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cat  35.52% F1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dog  40.93%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bird  43.08%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7888" y="3355848"/>
            <a:ext cx="3392424" cy="160020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22208" y="3657600"/>
            <a:ext cx="137160" cy="13716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87384" y="3557016"/>
            <a:ext cx="25694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9B78F7"/>
                </a:solidFill>
                <a:latin typeface="IBM Plex Sans"/>
              </a:rPr>
              <a:t>Easiest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4014215"/>
            <a:ext cx="284378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automobile  64.24% F1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ship  62.74%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horse  59.03%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138928"/>
            <a:ext cx="11073384" cy="786384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9536" y="5449824"/>
            <a:ext cx="164592" cy="16459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5230368"/>
            <a:ext cx="1015898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22CBA"/>
                </a:solidFill>
                <a:latin typeface="IBM Plex Sans"/>
              </a:rPr>
              <a:t>Cat and dog account for 350 errors between them, the largest confusion pair in the matrix.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522CBA"/>
                </a:solidFill>
                <a:latin typeface="IBM Plex Sans"/>
              </a:rPr>
              <a:t>Extra - Data augmentation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B78F7"/>
                </a:solidFill>
                <a:latin typeface="IBM Plex Sans"/>
              </a:rPr>
              <a:t>Random flip and shift, applied before the image is flattened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512064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920_cell69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428547"/>
            <a:ext cx="4901183" cy="167172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70448" y="1572768"/>
            <a:ext cx="329184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920_cell69_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5" y="2221753"/>
            <a:ext cx="3072384" cy="20853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45168" y="1572768"/>
            <a:ext cx="2295144" cy="338328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19488" y="1874519"/>
            <a:ext cx="137160" cy="13716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84664" y="1773936"/>
            <a:ext cx="147218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9B78F7"/>
                </a:solidFill>
                <a:latin typeface="IBM Plex Sans"/>
              </a:rPr>
              <a:t>The biggest gain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19488" y="2231136"/>
            <a:ext cx="1746503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No augmentation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53.10%,  gap 0.4414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Flip only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55.36%,  gap 0.3822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Flip + Shift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58.36%,  gap 0.0932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138928"/>
            <a:ext cx="11073384" cy="786384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" y="5449824"/>
            <a:ext cx="164592" cy="16459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5230368"/>
            <a:ext cx="1015898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22CBA"/>
                </a:solidFill>
                <a:latin typeface="IBM Plex Sans"/>
              </a:rPr>
              <a:t>+5.26 points and the gap nearly closed. The strongest single result in the project, and it cost no parameters.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522CBA"/>
                </a:solidFill>
                <a:latin typeface="IBM Plex Sans"/>
              </a:rPr>
              <a:t>What moved the needle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B78F7"/>
                </a:solidFill>
                <a:latin typeface="IBM Plex Sans"/>
              </a:rPr>
              <a:t>Six findings that shaped the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3566160" cy="1572768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7" y="1847088"/>
            <a:ext cx="137160" cy="13716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07568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9B78F7"/>
                </a:solidFill>
                <a:latin typeface="IBM Plex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14016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522CBA"/>
                </a:solidFill>
                <a:latin typeface="IBM Plex Sans"/>
              </a:rPr>
              <a:t>Depth did almost nothing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4320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IBM Plex Sans"/>
              </a:rPr>
              <a:t>0.76 points across 1, 3 and 5 layers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572768"/>
            <a:ext cx="3566160" cy="1572768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90288" y="1847088"/>
            <a:ext cx="137160" cy="13716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207568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9B78F7"/>
                </a:solidFill>
                <a:latin typeface="IBM Plex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14016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522CBA"/>
                </a:solidFill>
                <a:latin typeface="IBM Plex Sans"/>
              </a:rPr>
              <a:t>Width is where the parameters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74320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IBM Plex Sans"/>
              </a:rPr>
              <a:t>the first layer holds 75% of them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7" y="1572768"/>
            <a:ext cx="3566160" cy="1572768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39327" y="1847088"/>
            <a:ext cx="137160" cy="13716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7" y="207568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9B78F7"/>
                </a:solidFill>
                <a:latin typeface="IBM Plex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414016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522CBA"/>
                </a:solidFill>
                <a:latin typeface="IBM Plex Sans"/>
              </a:rPr>
              <a:t>Every architecture overfit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274320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IBM Plex Sans"/>
              </a:rPr>
              <a:t>training 82%, validation 52%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10128"/>
            <a:ext cx="3566160" cy="1572768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1247" y="3584448"/>
            <a:ext cx="137160" cy="13716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381304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9B78F7"/>
                </a:solidFill>
                <a:latin typeface="IBM Plex San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151376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522CBA"/>
                </a:solidFill>
                <a:latin typeface="IBM Plex Sans"/>
              </a:rPr>
              <a:t>Regularization beat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4805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IBM Plex Sans"/>
              </a:rPr>
              <a:t>Dropout closed the gap 30% to 6%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310128"/>
            <a:ext cx="3566160" cy="1572768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90288" y="3584448"/>
            <a:ext cx="137160" cy="13716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90288" y="381304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9B78F7"/>
                </a:solidFill>
                <a:latin typeface="IBM Plex San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151376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522CBA"/>
                </a:solidFill>
                <a:latin typeface="IBM Plex Sans"/>
              </a:rPr>
              <a:t>BatchNorm made it worse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44805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IBM Plex Sans"/>
              </a:rPr>
              <a:t>99.13% train, 44.88% validation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7" y="3310128"/>
            <a:ext cx="3566160" cy="1572768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339327" y="3584448"/>
            <a:ext cx="137160" cy="13716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39327" y="381304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9B78F7"/>
                </a:solidFill>
                <a:latin typeface="IBM Plex San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4151376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522CBA"/>
                </a:solidFill>
                <a:latin typeface="IBM Plex Sans"/>
              </a:rPr>
              <a:t>Augmentation won outright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44805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IBM Plex Sans"/>
              </a:rPr>
              <a:t>58.36%, the best score recorded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138928"/>
            <a:ext cx="11073384" cy="786384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59536" y="5449824"/>
            <a:ext cx="164592" cy="16459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70432" y="5230368"/>
            <a:ext cx="1015898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22CBA"/>
                </a:solidFill>
                <a:latin typeface="IBM Plex Sans"/>
              </a:rPr>
              <a:t>The constraint in the brief mattered more to the final number than any hyperparameter chosen after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64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522CBA"/>
                </a:solidFill>
                <a:latin typeface="IBM Plex Sans"/>
              </a:rPr>
              <a:t>Part 20 - Why this needs a CNN</a:t>
            </a:r>
          </a:p>
        </p:txBody>
      </p:sp>
      <p:sp>
        <p:nvSpPr>
          <p:cNvPr id="3" name="Oval 2"/>
          <p:cNvSpPr/>
          <p:nvPr/>
        </p:nvSpPr>
        <p:spPr>
          <a:xfrm>
            <a:off x="585216" y="1143000"/>
            <a:ext cx="146304" cy="146304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9536" y="1042415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9B78F7"/>
                </a:solidFill>
                <a:latin typeface="IBM Plex Sans"/>
              </a:rPr>
              <a:t>The ceiling is architectural, not a tuning failure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3566160" cy="338328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41247" y="1874519"/>
            <a:ext cx="137160" cy="13716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" y="177393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9B78F7"/>
                </a:solidFill>
                <a:latin typeface="IBM Plex Sans"/>
              </a:rPr>
              <a:t>What flattening destroys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31136"/>
            <a:ext cx="3017520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32 x 32 x 3  becomes  3,072 x 1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All pixel values survive, but their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arrangement does not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The model never learns that two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pixels are neighbours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572768"/>
            <a:ext cx="3566160" cy="338328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90288" y="1874519"/>
            <a:ext cx="137160" cy="13716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55464" y="177393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9B78F7"/>
                </a:solidFill>
                <a:latin typeface="IBM Plex Sans"/>
              </a:rPr>
              <a:t>What that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31136"/>
            <a:ext cx="3017520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Edges, corners and textures have to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be relearned at every position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A cat three pixels to the left is 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different input vector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This is why cat and dog collapse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into each other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572768"/>
            <a:ext cx="3575304" cy="338328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339328" y="1874519"/>
            <a:ext cx="137160" cy="13716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04504" y="1773936"/>
            <a:ext cx="27523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9B78F7"/>
                </a:solidFill>
                <a:latin typeface="IBM Plex Sans"/>
              </a:rPr>
              <a:t>What a CNN gives 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231136"/>
            <a:ext cx="3026664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The same filter applied everywhere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Local patterns learned once and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reused across the image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Hierarchical features, from edges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to shapes to objects</a:t>
            </a:r>
          </a:p>
          <a:p>
            <a:pPr algn="l">
              <a:spcAft>
                <a:spcPts val="400"/>
              </a:spcAft>
            </a:pPr>
            <a:endParaRPr sz="1300" b="0">
              <a:solidFill>
                <a:srgbClr val="000000"/>
              </a:solidFill>
              <a:latin typeface="IBM Plex Sans"/>
            </a:endParaR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IBM Plex Sans"/>
              </a:rPr>
              <a:t>Position no longer matters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138928"/>
            <a:ext cx="11073384" cy="786384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9536" y="5449824"/>
            <a:ext cx="164592" cy="16459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0432" y="5230368"/>
            <a:ext cx="1015898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522CBA"/>
                </a:solidFill>
                <a:latin typeface="IBM Plex Sans"/>
              </a:rPr>
              <a:t>Our augmentation result points the same way: the fix was more spatial variety, not more parameters.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9B7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32720" y="3017520"/>
            <a:ext cx="420624" cy="420624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064240" y="3520440"/>
            <a:ext cx="256032" cy="256032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9B78F7"/>
                </a:solidFill>
                <a:latin typeface="IBM Plex Sans"/>
              </a:rPr>
              <a:t>WHAT WE TOOK 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8595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522CBA"/>
                </a:solidFill>
                <a:latin typeface="IBM Plex Sans"/>
              </a:rPr>
              <a:t>The architecture set the ceiling,</a:t>
            </a:r>
          </a:p>
          <a:p>
            <a:pPr algn="l"/>
            <a:r>
              <a:rPr sz="3800" b="1">
                <a:solidFill>
                  <a:srgbClr val="522CBA"/>
                </a:solidFill>
                <a:latin typeface="IBM Plex Sans"/>
              </a:rPr>
              <a:t>not the hyperparameters.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3063240" cy="132588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8992" y="4279392"/>
            <a:ext cx="137160" cy="13716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4517136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522CBA"/>
                </a:solidFill>
                <a:latin typeface="IBM Plex Sans"/>
              </a:rPr>
              <a:t>Hardest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84632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IBM Plex Sans"/>
              </a:rPr>
              <a:t>telling a real gain from validation-set noise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4023360"/>
            <a:ext cx="3063240" cy="132588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25112" y="4279392"/>
            <a:ext cx="137160" cy="137160"/>
          </a:xfrm>
          <a:prstGeom prst="ellipse">
            <a:avLst/>
          </a:prstGeom>
          <a:solidFill>
            <a:srgbClr val="F4A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5112" y="4517136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522CBA"/>
                </a:solidFill>
                <a:latin typeface="IBM Plex Sans"/>
              </a:rPr>
              <a:t>Best judgement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484632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IBM Plex Sans"/>
              </a:rPr>
              <a:t>selecting on the gap once accuracy tied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023360"/>
            <a:ext cx="3063240" cy="1325880"/>
          </a:xfrm>
          <a:prstGeom prst="roundRect">
            <a:avLst>
              <a:gd name="adj" fmla="val 4000"/>
            </a:avLst>
          </a:prstGeom>
          <a:solidFill>
            <a:srgbClr val="F3EF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571231" y="4279392"/>
            <a:ext cx="137160" cy="137160"/>
          </a:xfrm>
          <a:prstGeom prst="ellipse">
            <a:avLst/>
          </a:prstGeom>
          <a:solidFill>
            <a:srgbClr val="57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71231" y="4517136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522CBA"/>
                </a:solidFill>
                <a:latin typeface="IBM Plex Sans"/>
              </a:rPr>
              <a:t>Next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484632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IBM Plex Sans"/>
              </a:rPr>
              <a:t>start with augmentation, not with depth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607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522CBA"/>
                </a:solidFill>
                <a:latin typeface="IBM Plex Sans"/>
              </a:rP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17920"/>
            <a:ext cx="8778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>
                <a:solidFill>
                  <a:srgbClr val="522CBA"/>
                </a:solidFill>
                <a:latin typeface="IBM Plex Sans"/>
              </a:rPr>
              <a:t>Khalid</a:t>
            </a:r>
            <a:r>
              <a:rPr lang="en-US" sz="1300" b="1" dirty="0">
                <a:solidFill>
                  <a:srgbClr val="522CBA"/>
                </a:solidFill>
                <a:latin typeface="IBM Plex Sans"/>
              </a:rPr>
              <a:t> </a:t>
            </a:r>
            <a:r>
              <a:rPr sz="1300" b="1" dirty="0">
                <a:solidFill>
                  <a:srgbClr val="522CBA"/>
                </a:solidFill>
                <a:latin typeface="IBM Plex Sans"/>
              </a:rPr>
              <a:t>·  </a:t>
            </a:r>
            <a:r>
              <a:rPr lang="en-US" sz="1300" b="1" dirty="0">
                <a:solidFill>
                  <a:srgbClr val="522CBA"/>
                </a:solidFill>
                <a:latin typeface="IBM Plex Sans"/>
              </a:rPr>
              <a:t>Wasan</a:t>
            </a:r>
            <a:endParaRPr sz="1300" b="1" dirty="0">
              <a:solidFill>
                <a:srgbClr val="522CBA"/>
              </a:solidFill>
              <a:latin typeface="IBM Plex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1324</Words>
  <Application>Microsoft Office PowerPoint</Application>
  <PresentationFormat>Widescreen</PresentationFormat>
  <Paragraphs>261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Airbnb Listings: Exploratory Data Analysis</dc:title>
  <dc:subject>PptxGenJS Presentation</dc:subject>
  <dc:creator>Khalid Al Dosari</dc:creator>
  <cp:lastModifiedBy>KHALID ABDULLAH ALI ALDOSARI</cp:lastModifiedBy>
  <cp:revision>2</cp:revision>
  <dcterms:created xsi:type="dcterms:W3CDTF">2026-07-30T14:13:04Z</dcterms:created>
  <dcterms:modified xsi:type="dcterms:W3CDTF">2026-08-22T14:34:47Z</dcterms:modified>
</cp:coreProperties>
</file>
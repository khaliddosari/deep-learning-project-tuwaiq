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8" d="100"/>
          <a:sy n="68" d="100"/>
        </p:scale>
        <p:origin x="82" y="34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image" Target="../media/image24.png"/><Relationship Id="rId8" Type="http://schemas.openxmlformats.org/officeDocument/2006/relationships/image" Target="../media/image25.png"/><Relationship Id="rId9" Type="http://schemas.openxmlformats.org/officeDocument/2006/relationships/image" Target="../media/image2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9418320" y="-1554480"/>
            <a:ext cx="4480560" cy="4480560"/>
          </a:xfrm>
          <a:prstGeom prst="ellipse">
            <a:avLst/>
          </a:prstGeom>
          <a:solidFill>
            <a:srgbClr val="9B7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0972800" y="4572000"/>
            <a:ext cx="2377440" cy="2377440"/>
          </a:xfrm>
          <a:prstGeom prst="ellipse">
            <a:avLst/>
          </a:prstGeom>
          <a:solidFill>
            <a:srgbClr val="522C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104120" y="2788920"/>
            <a:ext cx="457200" cy="457200"/>
          </a:xfrm>
          <a:prstGeom prst="ellipse">
            <a:avLst/>
          </a:prstGeom>
          <a:solidFill>
            <a:srgbClr val="57E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0927080" y="3310128"/>
            <a:ext cx="274320" cy="274320"/>
          </a:xfrm>
          <a:prstGeom prst="ellipse">
            <a:avLst/>
          </a:prstGeom>
          <a:solidFill>
            <a:srgbClr val="F4A6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691640"/>
            <a:ext cx="82296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9B78F7"/>
                </a:solidFill>
                <a:latin typeface="IBM Plex Sans"/>
              </a:rPr>
              <a:t>DEEP LEARNING CAPSTONE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103120"/>
            <a:ext cx="859536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600" b="1">
                <a:solidFill>
                  <a:srgbClr val="522CBA"/>
                </a:solidFill>
                <a:latin typeface="IBM Plex Sans"/>
              </a:rPr>
              <a:t>CIFAR-10 with</a:t>
            </a:r>
          </a:p>
          <a:p>
            <a:pPr algn="l"/>
            <a:r>
              <a:rPr sz="4600" b="1">
                <a:solidFill>
                  <a:srgbClr val="522CBA"/>
                </a:solidFill>
                <a:latin typeface="IBM Plex Sans"/>
              </a:rPr>
              <a:t>Dense Networks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968496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0">
                <a:solidFill>
                  <a:srgbClr val="000000"/>
                </a:solidFill>
                <a:latin typeface="IBM Plex Sans"/>
              </a:rPr>
              <a:t>How far can a fully connected network see, with no convolution allowed?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4754880"/>
            <a:ext cx="118872" cy="118872"/>
          </a:xfrm>
          <a:prstGeom prst="ellipse">
            <a:avLst/>
          </a:prstGeom>
          <a:solidFill>
            <a:srgbClr val="57E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4956048"/>
            <a:ext cx="196596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>
                <a:solidFill>
                  <a:srgbClr val="522CBA"/>
                </a:solidFill>
                <a:latin typeface="IBM Plex Sans"/>
              </a:rPr>
              <a:t>3,072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440680"/>
            <a:ext cx="1965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IBM Plex Sans"/>
              </a:rPr>
              <a:t>inputs per image</a:t>
            </a:r>
          </a:p>
        </p:txBody>
      </p:sp>
      <p:sp>
        <p:nvSpPr>
          <p:cNvPr id="12" name="Oval 11"/>
          <p:cNvSpPr/>
          <p:nvPr/>
        </p:nvSpPr>
        <p:spPr>
          <a:xfrm>
            <a:off x="2971800" y="4754880"/>
            <a:ext cx="118872" cy="118872"/>
          </a:xfrm>
          <a:prstGeom prst="ellipse">
            <a:avLst/>
          </a:prstGeom>
          <a:solidFill>
            <a:srgbClr val="F4A6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971800" y="4956048"/>
            <a:ext cx="196596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>
                <a:solidFill>
                  <a:srgbClr val="522CBA"/>
                </a:solidFill>
                <a:latin typeface="IBM Plex Sans"/>
              </a:rPr>
              <a:t>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71800" y="5440680"/>
            <a:ext cx="1965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IBM Plex Sans"/>
              </a:rPr>
              <a:t>experiments</a:t>
            </a:r>
          </a:p>
        </p:txBody>
      </p:sp>
      <p:sp>
        <p:nvSpPr>
          <p:cNvPr id="15" name="Oval 14"/>
          <p:cNvSpPr/>
          <p:nvPr/>
        </p:nvSpPr>
        <p:spPr>
          <a:xfrm>
            <a:off x="5120640" y="4754880"/>
            <a:ext cx="118872" cy="118872"/>
          </a:xfrm>
          <a:prstGeom prst="ellipse">
            <a:avLst/>
          </a:prstGeom>
          <a:solidFill>
            <a:srgbClr val="57E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120640" y="4956048"/>
            <a:ext cx="196596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>
                <a:solidFill>
                  <a:srgbClr val="522CBA"/>
                </a:solidFill>
                <a:latin typeface="IBM Plex Sans"/>
              </a:rPr>
              <a:t>54.08%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0" y="5440680"/>
            <a:ext cx="1965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IBM Plex Sans"/>
              </a:rPr>
              <a:t>test accuracy</a:t>
            </a:r>
          </a:p>
        </p:txBody>
      </p:sp>
      <p:sp>
        <p:nvSpPr>
          <p:cNvPr id="18" name="Oval 17"/>
          <p:cNvSpPr/>
          <p:nvPr/>
        </p:nvSpPr>
        <p:spPr>
          <a:xfrm>
            <a:off x="7269480" y="4754880"/>
            <a:ext cx="118872" cy="118872"/>
          </a:xfrm>
          <a:prstGeom prst="ellipse">
            <a:avLst/>
          </a:prstGeom>
          <a:solidFill>
            <a:srgbClr val="F4A6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269480" y="4956048"/>
            <a:ext cx="196596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>
                <a:solidFill>
                  <a:srgbClr val="522CBA"/>
                </a:solidFill>
                <a:latin typeface="IBM Plex Sans"/>
              </a:rPr>
              <a:t>59.12%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69480" y="5440680"/>
            <a:ext cx="1965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IBM Plex Sans"/>
              </a:rPr>
              <a:t>best with augmentation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961888"/>
            <a:ext cx="87782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dirty="0">
                <a:solidFill>
                  <a:srgbClr val="522CBA"/>
                </a:solidFill>
                <a:latin typeface="IBM Plex Sans"/>
              </a:rPr>
              <a:t>Khali</a:t>
            </a:r>
            <a:r>
              <a:rPr lang="en-US" sz="1400" b="1" dirty="0">
                <a:solidFill>
                  <a:srgbClr val="522CBA"/>
                </a:solidFill>
                <a:latin typeface="IBM Plex Sans"/>
              </a:rPr>
              <a:t>d - Wasan</a:t>
            </a:r>
            <a:endParaRPr sz="1400" b="1" dirty="0">
              <a:solidFill>
                <a:srgbClr val="522CBA"/>
              </a:solidFill>
              <a:latin typeface="IBM Plex San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22960" y="6291072"/>
            <a:ext cx="82296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200" b="0" dirty="0">
                <a:solidFill>
                  <a:srgbClr val="000000"/>
                </a:solidFill>
                <a:latin typeface="IBM Plex Sans"/>
              </a:rPr>
              <a:t>Building &amp; Developing AI Models Bootcamp</a:t>
            </a:r>
            <a:endParaRPr sz="1200" b="0" dirty="0">
              <a:solidFill>
                <a:srgbClr val="000000"/>
              </a:solidFill>
              <a:latin typeface="IBM Plex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65760"/>
            <a:ext cx="11064240" cy="676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>
                <a:solidFill>
                  <a:srgbClr val="522CBA"/>
                </a:solidFill>
                <a:latin typeface="IBM Plex Sans"/>
              </a:rPr>
              <a:t>One rule shapes everything</a:t>
            </a:r>
          </a:p>
        </p:txBody>
      </p:sp>
      <p:sp>
        <p:nvSpPr>
          <p:cNvPr id="3" name="Oval 2"/>
          <p:cNvSpPr/>
          <p:nvPr/>
        </p:nvSpPr>
        <p:spPr>
          <a:xfrm>
            <a:off x="585216" y="1143000"/>
            <a:ext cx="146304" cy="146304"/>
          </a:xfrm>
          <a:prstGeom prst="ellipse">
            <a:avLst/>
          </a:prstGeom>
          <a:solidFill>
            <a:srgbClr val="57E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9536" y="1042415"/>
            <a:ext cx="1078992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9B78F7"/>
                </a:solidFill>
                <a:latin typeface="IBM Plex Sans"/>
              </a:rPr>
              <a:t>No CNN, no Conv2D, no pretrained weights, no transfer learning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72768"/>
            <a:ext cx="3566160" cy="3383280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841247" y="1874519"/>
            <a:ext cx="137160" cy="137160"/>
          </a:xfrm>
          <a:prstGeom prst="ellipse">
            <a:avLst/>
          </a:prstGeom>
          <a:solidFill>
            <a:srgbClr val="57E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06424" y="1773936"/>
            <a:ext cx="274320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9B78F7"/>
                </a:solidFill>
                <a:latin typeface="IBM Plex Sans"/>
              </a:rPr>
              <a:t>The task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2231136"/>
            <a:ext cx="3017520" cy="2514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CIFAR-10, ten mutually exclusive classes</a:t>
            </a:r>
          </a:p>
          <a:p>
            <a:pPr algn="l">
              <a:spcAft>
                <a:spcPts val="400"/>
              </a:spcAft>
            </a:pPr>
            <a:endParaRPr sz="1300" b="0">
              <a:solidFill>
                <a:srgbClr val="000000"/>
              </a:solidFill>
              <a:latin typeface="IBM Plex Sans"/>
            </a:endParaRP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60,000 colour images at 32 x 32 x 3</a:t>
            </a:r>
          </a:p>
          <a:p>
            <a:pPr algn="l">
              <a:spcAft>
                <a:spcPts val="400"/>
              </a:spcAft>
            </a:pPr>
            <a:endParaRPr sz="1300" b="0">
              <a:solidFill>
                <a:srgbClr val="000000"/>
              </a:solidFill>
              <a:latin typeface="IBM Plex Sans"/>
            </a:endParaRP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Softmax output, sparse categorical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cross-entropy loss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572768"/>
            <a:ext cx="3566160" cy="3383280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4590288" y="1874519"/>
            <a:ext cx="137160" cy="137160"/>
          </a:xfrm>
          <a:prstGeom prst="ellipse">
            <a:avLst/>
          </a:prstGeom>
          <a:solidFill>
            <a:srgbClr val="F4A6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855464" y="1773936"/>
            <a:ext cx="274320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9B78F7"/>
                </a:solidFill>
                <a:latin typeface="IBM Plex Sans"/>
              </a:rPr>
              <a:t>The rule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0288" y="2231136"/>
            <a:ext cx="3017520" cy="2514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Dense layers only</a:t>
            </a:r>
          </a:p>
          <a:p>
            <a:pPr algn="l">
              <a:spcAft>
                <a:spcPts val="400"/>
              </a:spcAft>
            </a:pPr>
            <a:endParaRPr sz="1300" b="0">
              <a:solidFill>
                <a:srgbClr val="000000"/>
              </a:solidFill>
              <a:latin typeface="IBM Plex Sans"/>
            </a:endParaRP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Every image must be flattened before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it reaches the first layer</a:t>
            </a:r>
          </a:p>
          <a:p>
            <a:pPr algn="l">
              <a:spcAft>
                <a:spcPts val="400"/>
              </a:spcAft>
            </a:pPr>
            <a:endParaRPr sz="1300" b="0">
              <a:solidFill>
                <a:srgbClr val="000000"/>
              </a:solidFill>
              <a:latin typeface="IBM Plex Sans"/>
            </a:endParaRP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32 x 32 x 3  becomes  3,072 x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65008" y="1572768"/>
            <a:ext cx="3575304" cy="3383280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8339328" y="1874519"/>
            <a:ext cx="137160" cy="137160"/>
          </a:xfrm>
          <a:prstGeom prst="ellipse">
            <a:avLst/>
          </a:prstGeom>
          <a:solidFill>
            <a:srgbClr val="57E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604504" y="1773936"/>
            <a:ext cx="2752344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9B78F7"/>
                </a:solidFill>
                <a:latin typeface="IBM Plex Sans"/>
              </a:rPr>
              <a:t>What that costs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39328" y="2231136"/>
            <a:ext cx="3026664" cy="2514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One weight per pixel position</a:t>
            </a:r>
          </a:p>
          <a:p>
            <a:pPr algn="l">
              <a:spcAft>
                <a:spcPts val="400"/>
              </a:spcAft>
            </a:pPr>
            <a:endParaRPr sz="1300" b="0">
              <a:solidFill>
                <a:srgbClr val="000000"/>
              </a:solidFill>
              <a:latin typeface="IBM Plex Sans"/>
            </a:endParaRP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No translation invariance: shift an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object three pixels and almost every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input value changes</a:t>
            </a:r>
          </a:p>
          <a:p>
            <a:pPr algn="l">
              <a:spcAft>
                <a:spcPts val="400"/>
              </a:spcAft>
            </a:pPr>
            <a:endParaRPr sz="1300" b="0">
              <a:solidFill>
                <a:srgbClr val="000000"/>
              </a:solidFill>
              <a:latin typeface="IBM Plex Sans"/>
            </a:endParaRP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The network must learn the same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object again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138928"/>
            <a:ext cx="11073384" cy="786384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859536" y="5449824"/>
            <a:ext cx="164592" cy="164592"/>
          </a:xfrm>
          <a:prstGeom prst="ellipse">
            <a:avLst/>
          </a:prstGeom>
          <a:solidFill>
            <a:srgbClr val="F4A6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170432" y="5230368"/>
            <a:ext cx="10158984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522CBA"/>
                </a:solidFill>
                <a:latin typeface="IBM Plex Sans"/>
              </a:rPr>
              <a:t>That single decision sets the ceiling for every experiment that follows.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65760"/>
            <a:ext cx="11064240" cy="676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>
                <a:solidFill>
                  <a:srgbClr val="522CBA"/>
                </a:solidFill>
                <a:latin typeface="IBM Plex Sans"/>
              </a:rPr>
              <a:t>The data</a:t>
            </a:r>
          </a:p>
        </p:txBody>
      </p:sp>
      <p:sp>
        <p:nvSpPr>
          <p:cNvPr id="3" name="Oval 2"/>
          <p:cNvSpPr/>
          <p:nvPr/>
        </p:nvSpPr>
        <p:spPr>
          <a:xfrm>
            <a:off x="585216" y="1143000"/>
            <a:ext cx="146304" cy="146304"/>
          </a:xfrm>
          <a:prstGeom prst="ellipse">
            <a:avLst/>
          </a:prstGeom>
          <a:solidFill>
            <a:srgbClr val="57E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9536" y="1042415"/>
            <a:ext cx="1078992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9B78F7"/>
                </a:solidFill>
                <a:latin typeface="IBM Plex Sans"/>
              </a:rPr>
              <a:t>One row is one 32 x 32 colour image, ten balanced classes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72768"/>
            <a:ext cx="5760720" cy="270539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01-02_cell17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1682496"/>
            <a:ext cx="5541263" cy="2485943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510528" y="1572768"/>
            <a:ext cx="5129784" cy="33611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01-02_cell16_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0256" y="1682496"/>
            <a:ext cx="4910328" cy="31417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4572000"/>
            <a:ext cx="57607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>
                <a:solidFill>
                  <a:srgbClr val="522CBA"/>
                </a:solidFill>
                <a:latin typeface="IBM Plex Sans"/>
              </a:rPr>
              <a:t>One example of each class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10528" y="4572000"/>
            <a:ext cx="51297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>
                <a:solidFill>
                  <a:srgbClr val="522CBA"/>
                </a:solidFill>
                <a:latin typeface="IBM Plex Sans"/>
              </a:rPr>
              <a:t>Fifteen random training images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5138928"/>
            <a:ext cx="11073384" cy="786384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859536" y="5449824"/>
            <a:ext cx="164592" cy="164592"/>
          </a:xfrm>
          <a:prstGeom prst="ellipse">
            <a:avLst/>
          </a:prstGeom>
          <a:solidFill>
            <a:srgbClr val="F4A6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70432" y="5230368"/>
            <a:ext cx="10158984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522CBA"/>
                </a:solidFill>
                <a:latin typeface="IBM Plex Sans"/>
              </a:rPr>
              <a:t>Ten mutually exclusive classes at 32 x 32 pixels. At this resolution the animal classes already look alike.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65760"/>
            <a:ext cx="11064240" cy="676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>
                <a:solidFill>
                  <a:srgbClr val="522CBA"/>
                </a:solidFill>
                <a:latin typeface="IBM Plex Sans"/>
              </a:rPr>
              <a:t>Preparation</a:t>
            </a:r>
          </a:p>
        </p:txBody>
      </p:sp>
      <p:sp>
        <p:nvSpPr>
          <p:cNvPr id="3" name="Oval 2"/>
          <p:cNvSpPr/>
          <p:nvPr/>
        </p:nvSpPr>
        <p:spPr>
          <a:xfrm>
            <a:off x="585216" y="1143000"/>
            <a:ext cx="146304" cy="146304"/>
          </a:xfrm>
          <a:prstGeom prst="ellipse">
            <a:avLst/>
          </a:prstGeom>
          <a:solidFill>
            <a:srgbClr val="57E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9536" y="1042415"/>
            <a:ext cx="1078992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9B78F7"/>
                </a:solidFill>
                <a:latin typeface="IBM Plex Sans"/>
              </a:rPr>
              <a:t>Scaled, split once, and committed so every experiment shares 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72768"/>
            <a:ext cx="4206240" cy="167335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01-02_cell12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962" y="1682495"/>
            <a:ext cx="3378170" cy="145389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66928" y="3337560"/>
            <a:ext cx="4206240" cy="167335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01-02_cell13_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0962" y="3447288"/>
            <a:ext cx="3378170" cy="1453896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956048" y="1572768"/>
            <a:ext cx="3657600" cy="172605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01-02_cell09_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5776" y="1682495"/>
            <a:ext cx="3438144" cy="150660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956048" y="3337560"/>
            <a:ext cx="3657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>
                <a:solidFill>
                  <a:srgbClr val="522CBA"/>
                </a:solidFill>
                <a:latin typeface="IBM Plex Sans"/>
              </a:rPr>
              <a:t>Exactly 6,000 images per class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796528" y="1572768"/>
            <a:ext cx="2843784" cy="3383280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9070848" y="1874519"/>
            <a:ext cx="137160" cy="137160"/>
          </a:xfrm>
          <a:prstGeom prst="ellipse">
            <a:avLst/>
          </a:prstGeom>
          <a:solidFill>
            <a:srgbClr val="F4A6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336024" y="1773936"/>
            <a:ext cx="2020824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9B78F7"/>
                </a:solidFill>
                <a:latin typeface="IBM Plex Sans"/>
              </a:rPr>
              <a:t>The split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70848" y="2231136"/>
            <a:ext cx="2295144" cy="2514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45,000 train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5,000 validation, stratified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10,000 test, untouched until Part 16</a:t>
            </a:r>
          </a:p>
          <a:p>
            <a:pPr algn="l">
              <a:spcAft>
                <a:spcPts val="400"/>
              </a:spcAft>
            </a:pPr>
            <a:endParaRPr sz="1300" b="0">
              <a:solidFill>
                <a:srgbClr val="000000"/>
              </a:solidFill>
              <a:latin typeface="IBM Plex Sans"/>
            </a:endParaRP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Pixels scaled to [0, 1]</a:t>
            </a:r>
          </a:p>
          <a:p>
            <a:pPr algn="l">
              <a:spcAft>
                <a:spcPts val="400"/>
              </a:spcAft>
            </a:pPr>
            <a:endParaRPr sz="1300" b="0">
              <a:solidFill>
                <a:srgbClr val="000000"/>
              </a:solidFill>
              <a:latin typeface="IBM Plex Sans"/>
            </a:endParaRP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Indices saved to splits.npz and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committed to git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138928"/>
            <a:ext cx="11073384" cy="786384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859536" y="5449824"/>
            <a:ext cx="164592" cy="164592"/>
          </a:xfrm>
          <a:prstGeom prst="ellipse">
            <a:avLst/>
          </a:prstGeom>
          <a:solidFill>
            <a:srgbClr val="F4A6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170432" y="5230368"/>
            <a:ext cx="10158984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522CBA"/>
                </a:solidFill>
                <a:latin typeface="IBM Plex Sans"/>
              </a:rPr>
              <a:t>The test set is opened once, at the very end. Every tuning decision is made on validation only.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65760"/>
            <a:ext cx="11064240" cy="676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>
                <a:solidFill>
                  <a:srgbClr val="522CBA"/>
                </a:solidFill>
                <a:latin typeface="IBM Plex Sans"/>
              </a:rPr>
              <a:t>Part 3 - The baseline</a:t>
            </a:r>
          </a:p>
        </p:txBody>
      </p:sp>
      <p:sp>
        <p:nvSpPr>
          <p:cNvPr id="3" name="Oval 2"/>
          <p:cNvSpPr/>
          <p:nvPr/>
        </p:nvSpPr>
        <p:spPr>
          <a:xfrm>
            <a:off x="585216" y="1143000"/>
            <a:ext cx="146304" cy="146304"/>
          </a:xfrm>
          <a:prstGeom prst="ellipse">
            <a:avLst/>
          </a:prstGeom>
          <a:solidFill>
            <a:srgbClr val="57E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9536" y="1042415"/>
            <a:ext cx="10789920" cy="4968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9B78F7"/>
                </a:solidFill>
                <a:latin typeface="IBM Plex Sans"/>
              </a:rPr>
              <a:t>One hidden layer, 512 units, Adam at 0.0001, batch 128</a:t>
            </a:r>
          </a:p>
          <a:p>
            <a:pPr algn="l"/>
            <a:r>
              <a:rPr sz="1100" b="0">
                <a:solidFill>
                  <a:srgbClr val="9B78F7"/>
                </a:solidFill>
                <a:latin typeface="IBM Plex Sans"/>
              </a:rPr>
              <a:t>1 x 512 ReLU · Adam 0.0001 · batch 128 · 50 epochs · sparse categorical cross-entropy · seed 42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72768"/>
            <a:ext cx="7863840" cy="3383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0308_cell10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1989273"/>
            <a:ext cx="7644383" cy="2550269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613648" y="1572768"/>
            <a:ext cx="3026664" cy="1600200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8887968" y="1874519"/>
            <a:ext cx="137160" cy="137160"/>
          </a:xfrm>
          <a:prstGeom prst="ellipse">
            <a:avLst/>
          </a:prstGeom>
          <a:solidFill>
            <a:srgbClr val="57E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887968" y="2139696"/>
            <a:ext cx="247802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>
                <a:solidFill>
                  <a:srgbClr val="522CBA"/>
                </a:solidFill>
                <a:latin typeface="IBM Plex Sans"/>
              </a:rPr>
              <a:t>52.22%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87968" y="2651760"/>
            <a:ext cx="247802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IBM Plex Sans"/>
              </a:rPr>
              <a:t>best validation accuracy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13648" y="3355848"/>
            <a:ext cx="3026664" cy="1600200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8887968" y="3657600"/>
            <a:ext cx="137160" cy="137160"/>
          </a:xfrm>
          <a:prstGeom prst="ellipse">
            <a:avLst/>
          </a:prstGeom>
          <a:solidFill>
            <a:srgbClr val="F4A6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887968" y="3922776"/>
            <a:ext cx="247802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>
                <a:solidFill>
                  <a:srgbClr val="522CBA"/>
                </a:solidFill>
                <a:latin typeface="IBM Plex Sans"/>
              </a:rPr>
              <a:t>1,578,506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87968" y="4434840"/>
            <a:ext cx="247802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IBM Plex Sans"/>
              </a:rPr>
              <a:t>trainable parameters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138928"/>
            <a:ext cx="11073384" cy="786384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859536" y="5449824"/>
            <a:ext cx="164592" cy="164592"/>
          </a:xfrm>
          <a:prstGeom prst="ellipse">
            <a:avLst/>
          </a:prstGeom>
          <a:solidFill>
            <a:srgbClr val="F4A6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170432" y="5230368"/>
            <a:ext cx="10158984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522CBA"/>
                </a:solidFill>
                <a:latin typeface="IBM Plex Sans"/>
              </a:rPr>
              <a:t>About 5x the 10% random-guess floor, and 99.7% of those parameters sit in the very first layer.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65760"/>
            <a:ext cx="11064240" cy="676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>
                <a:solidFill>
                  <a:srgbClr val="522CBA"/>
                </a:solidFill>
                <a:latin typeface="IBM Plex Sans"/>
              </a:rPr>
              <a:t>Parts 4-6 - Three depths, one width</a:t>
            </a:r>
          </a:p>
        </p:txBody>
      </p:sp>
      <p:sp>
        <p:nvSpPr>
          <p:cNvPr id="3" name="Oval 2"/>
          <p:cNvSpPr/>
          <p:nvPr/>
        </p:nvSpPr>
        <p:spPr>
          <a:xfrm>
            <a:off x="585216" y="1143000"/>
            <a:ext cx="146304" cy="146304"/>
          </a:xfrm>
          <a:prstGeom prst="ellipse">
            <a:avLst/>
          </a:prstGeom>
          <a:solidFill>
            <a:srgbClr val="57E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9536" y="1042415"/>
            <a:ext cx="10789920" cy="4968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9B78F7"/>
                </a:solidFill>
                <a:latin typeface="IBM Plex Sans"/>
              </a:rPr>
              <a:t>Same data, same seed, same hyperparameters, only depth changes</a:t>
            </a:r>
          </a:p>
          <a:p>
            <a:pPr algn="l"/>
            <a:r>
              <a:rPr sz="1100" b="0">
                <a:solidFill>
                  <a:srgbClr val="9B78F7"/>
                </a:solidFill>
                <a:latin typeface="IBM Plex Sans"/>
              </a:rPr>
              <a:t>Shallow 1 x 512 · Medium 3 x 512 · Deep 5 x 512 · all: ReLU, Adam 0.0001, batch 128, 50 epochs, no regularization, seed 42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35661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>
                <a:solidFill>
                  <a:srgbClr val="522CBA"/>
                </a:solidFill>
                <a:latin typeface="IBM Plex Sans"/>
              </a:rPr>
              <a:t>Shallow  1 x 512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993392"/>
            <a:ext cx="3566160" cy="133596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0308_cell22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2103120"/>
            <a:ext cx="3346703" cy="111650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66928" y="3657600"/>
            <a:ext cx="3566160" cy="1188720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841247" y="3913632"/>
            <a:ext cx="137160" cy="137160"/>
          </a:xfrm>
          <a:prstGeom prst="ellipse">
            <a:avLst/>
          </a:prstGeom>
          <a:solidFill>
            <a:srgbClr val="57E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1247" y="4169663"/>
            <a:ext cx="30175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522CBA"/>
                </a:solidFill>
                <a:latin typeface="IBM Plex Sans"/>
              </a:rPr>
              <a:t>52.22%   gap 0.15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5968" y="1627632"/>
            <a:ext cx="35661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>
                <a:solidFill>
                  <a:srgbClr val="522CBA"/>
                </a:solidFill>
                <a:latin typeface="IBM Plex Sans"/>
              </a:rPr>
              <a:t>Medium  3 x 512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15968" y="1993392"/>
            <a:ext cx="3566160" cy="133596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0308_cell24_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5696" y="2103120"/>
            <a:ext cx="3346703" cy="1116505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315968" y="3657600"/>
            <a:ext cx="3566160" cy="1188720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4590288" y="3913632"/>
            <a:ext cx="137160" cy="137160"/>
          </a:xfrm>
          <a:prstGeom prst="ellipse">
            <a:avLst/>
          </a:prstGeom>
          <a:solidFill>
            <a:srgbClr val="F4A6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90288" y="4169663"/>
            <a:ext cx="30175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522CBA"/>
                </a:solidFill>
                <a:latin typeface="IBM Plex Sans"/>
              </a:rPr>
              <a:t>52.40%   gap 0.30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65007" y="1627632"/>
            <a:ext cx="35661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>
                <a:solidFill>
                  <a:srgbClr val="522CBA"/>
                </a:solidFill>
                <a:latin typeface="IBM Plex Sans"/>
              </a:rPr>
              <a:t>Deep  5 x 512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65007" y="1993392"/>
            <a:ext cx="3566160" cy="133596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0308_cell26_0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4735" y="2103120"/>
            <a:ext cx="3346703" cy="1116505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8065007" y="3657600"/>
            <a:ext cx="3566160" cy="1188720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8339327" y="3913632"/>
            <a:ext cx="137160" cy="137160"/>
          </a:xfrm>
          <a:prstGeom prst="ellipse">
            <a:avLst/>
          </a:prstGeom>
          <a:solidFill>
            <a:srgbClr val="57E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339327" y="4169663"/>
            <a:ext cx="30175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522CBA"/>
                </a:solidFill>
                <a:latin typeface="IBM Plex Sans"/>
              </a:rPr>
              <a:t>52.98%   gap 0.33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138928"/>
            <a:ext cx="11073384" cy="786384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859536" y="5449824"/>
            <a:ext cx="164592" cy="164592"/>
          </a:xfrm>
          <a:prstGeom prst="ellipse">
            <a:avLst/>
          </a:prstGeom>
          <a:solidFill>
            <a:srgbClr val="F4A6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170432" y="5230368"/>
            <a:ext cx="10158984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522CBA"/>
                </a:solidFill>
                <a:latin typeface="IBM Plex Sans"/>
              </a:rPr>
              <a:t>Depth barely moves validation accuracy, but it steadily widens the gap between training and validation.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65760"/>
            <a:ext cx="11064240" cy="676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>
                <a:solidFill>
                  <a:srgbClr val="522CBA"/>
                </a:solidFill>
                <a:latin typeface="IBM Plex Sans"/>
              </a:rPr>
              <a:t>Part 7 - The comparison</a:t>
            </a:r>
          </a:p>
        </p:txBody>
      </p:sp>
      <p:sp>
        <p:nvSpPr>
          <p:cNvPr id="3" name="Oval 2"/>
          <p:cNvSpPr/>
          <p:nvPr/>
        </p:nvSpPr>
        <p:spPr>
          <a:xfrm>
            <a:off x="585216" y="1143000"/>
            <a:ext cx="146304" cy="146304"/>
          </a:xfrm>
          <a:prstGeom prst="ellipse">
            <a:avLst/>
          </a:prstGeom>
          <a:solidFill>
            <a:srgbClr val="57E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9536" y="1042415"/>
            <a:ext cx="10789920" cy="4968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9B78F7"/>
                </a:solidFill>
                <a:latin typeface="IBM Plex Sans"/>
              </a:rPr>
              <a:t>All three land within 38 images of each other</a:t>
            </a:r>
          </a:p>
          <a:p>
            <a:pPr algn="l"/>
            <a:r>
              <a:rPr sz="1100" b="0">
                <a:solidFill>
                  <a:srgbClr val="9B78F7"/>
                </a:solidFill>
                <a:latin typeface="IBM Plex Sans"/>
              </a:rPr>
              <a:t>Shallow 1 x 512 · Medium 3 x 512 · Deep 5 x 512 · all: ReLU, Adam 0.0001, batch 128, 50 epochs, no regularization, seed 42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72768"/>
            <a:ext cx="7498079" cy="3383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0308_cell29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2023092"/>
            <a:ext cx="7278623" cy="2482631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247888" y="1572768"/>
            <a:ext cx="3392424" cy="1024128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8522208" y="1773936"/>
            <a:ext cx="137160" cy="137160"/>
          </a:xfrm>
          <a:prstGeom prst="ellipse">
            <a:avLst/>
          </a:prstGeom>
          <a:solidFill>
            <a:srgbClr val="57E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796528" y="1700784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>
                <a:solidFill>
                  <a:srgbClr val="522CBA"/>
                </a:solidFill>
                <a:latin typeface="IBM Plex Sans"/>
              </a:rPr>
              <a:t>52.22%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22208" y="2157984"/>
            <a:ext cx="2926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0000"/>
                </a:solidFill>
                <a:latin typeface="IBM Plex Sans"/>
              </a:rPr>
              <a:t>Shallow  gap 0.15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47888" y="2734056"/>
            <a:ext cx="3392424" cy="1024128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8522208" y="2935224"/>
            <a:ext cx="137160" cy="137160"/>
          </a:xfrm>
          <a:prstGeom prst="ellipse">
            <a:avLst/>
          </a:prstGeom>
          <a:solidFill>
            <a:srgbClr val="F4A6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796528" y="2862072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>
                <a:solidFill>
                  <a:srgbClr val="522CBA"/>
                </a:solidFill>
                <a:latin typeface="IBM Plex Sans"/>
              </a:rPr>
              <a:t>52.40%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22208" y="3319272"/>
            <a:ext cx="2926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0000"/>
                </a:solidFill>
                <a:latin typeface="IBM Plex Sans"/>
              </a:rPr>
              <a:t>Medium  gap 0.30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47888" y="3895344"/>
            <a:ext cx="3392424" cy="1024128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8522208" y="4096512"/>
            <a:ext cx="137160" cy="137160"/>
          </a:xfrm>
          <a:prstGeom prst="ellipse">
            <a:avLst/>
          </a:prstGeom>
          <a:solidFill>
            <a:srgbClr val="57E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796528" y="402336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>
                <a:solidFill>
                  <a:srgbClr val="522CBA"/>
                </a:solidFill>
                <a:latin typeface="IBM Plex Sans"/>
              </a:rPr>
              <a:t>52.98%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22208" y="4480560"/>
            <a:ext cx="2926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0000"/>
                </a:solidFill>
                <a:latin typeface="IBM Plex Sans"/>
              </a:rPr>
              <a:t>Deep  gap 0.33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138928"/>
            <a:ext cx="11073384" cy="786384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859536" y="5449824"/>
            <a:ext cx="164592" cy="164592"/>
          </a:xfrm>
          <a:prstGeom prst="ellipse">
            <a:avLst/>
          </a:prstGeom>
          <a:solidFill>
            <a:srgbClr val="F4A6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170432" y="5230368"/>
            <a:ext cx="10158984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522CBA"/>
                </a:solidFill>
                <a:latin typeface="IBM Plex Sans"/>
              </a:rPr>
              <a:t>0.76 points apart on a 5,000-image validation set is inside the noise. Depth bought overfitting, not accuracy.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65760"/>
            <a:ext cx="11064240" cy="676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>
                <a:solidFill>
                  <a:srgbClr val="522CBA"/>
                </a:solidFill>
                <a:latin typeface="IBM Plex Sans"/>
              </a:rPr>
              <a:t>Part 8 - The diagnosis</a:t>
            </a:r>
          </a:p>
        </p:txBody>
      </p:sp>
      <p:sp>
        <p:nvSpPr>
          <p:cNvPr id="3" name="Oval 2"/>
          <p:cNvSpPr/>
          <p:nvPr/>
        </p:nvSpPr>
        <p:spPr>
          <a:xfrm>
            <a:off x="585216" y="1143000"/>
            <a:ext cx="146304" cy="146304"/>
          </a:xfrm>
          <a:prstGeom prst="ellipse">
            <a:avLst/>
          </a:prstGeom>
          <a:solidFill>
            <a:srgbClr val="57E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9536" y="1042415"/>
            <a:ext cx="10789920" cy="4968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9B78F7"/>
                </a:solidFill>
                <a:latin typeface="IBM Plex Sans"/>
              </a:rPr>
              <a:t>Medium, 3 x 512, 2,103,818 parameters</a:t>
            </a:r>
          </a:p>
          <a:p>
            <a:pPr algn="l"/>
            <a:r>
              <a:rPr sz="1100" b="0">
                <a:solidFill>
                  <a:srgbClr val="9B78F7"/>
                </a:solidFill>
                <a:latin typeface="IBM Plex Sans"/>
              </a:rPr>
              <a:t>3 x 512 ReLU · Adam 0.0001 · batch 128 · 50 epochs · no regularization · seed 42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72768"/>
            <a:ext cx="3931920" cy="273920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920_cell07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1682496"/>
            <a:ext cx="3712463" cy="2519747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681728" y="1572768"/>
            <a:ext cx="3931920" cy="273920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920_cell08_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1456" y="1682496"/>
            <a:ext cx="3712463" cy="2519747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796528" y="1572768"/>
            <a:ext cx="2843784" cy="3383280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9070848" y="1874519"/>
            <a:ext cx="137160" cy="137160"/>
          </a:xfrm>
          <a:prstGeom prst="ellipse">
            <a:avLst/>
          </a:prstGeom>
          <a:solidFill>
            <a:srgbClr val="F4A6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336024" y="1773936"/>
            <a:ext cx="2020824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9B78F7"/>
                </a:solidFill>
                <a:latin typeface="IBM Plex Sans"/>
              </a:rPr>
              <a:t>Overfitting, from epoch 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70848" y="2231136"/>
            <a:ext cx="2295144" cy="2514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Training loss falls all 50 epochs,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1.845 to 0.542</a:t>
            </a:r>
          </a:p>
          <a:p>
            <a:pPr algn="l">
              <a:spcAft>
                <a:spcPts val="400"/>
              </a:spcAft>
            </a:pPr>
            <a:endParaRPr sz="1300" b="0">
              <a:solidFill>
                <a:srgbClr val="000000"/>
              </a:solidFill>
              <a:latin typeface="IBM Plex Sans"/>
            </a:endParaRP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Validation loss bottoms at 1.4024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then rises 27% to 1.7835</a:t>
            </a:r>
          </a:p>
          <a:p>
            <a:pPr algn="l">
              <a:spcAft>
                <a:spcPts val="400"/>
              </a:spcAft>
            </a:pPr>
            <a:endParaRPr sz="1300" b="0">
              <a:solidFill>
                <a:srgbClr val="000000"/>
              </a:solidFill>
              <a:latin typeface="IBM Plex Sans"/>
            </a:endParaRP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Training accuracy reaches 0.820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and is still climbing</a:t>
            </a:r>
          </a:p>
          <a:p>
            <a:pPr algn="l">
              <a:spcAft>
                <a:spcPts val="400"/>
              </a:spcAft>
            </a:pPr>
            <a:endParaRPr sz="1300" b="0">
              <a:solidFill>
                <a:srgbClr val="000000"/>
              </a:solidFill>
              <a:latin typeface="IBM Plex Sans"/>
            </a:endParaRP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Fix: Early Stopping, best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weights restored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5138928"/>
            <a:ext cx="11073384" cy="786384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859536" y="5449824"/>
            <a:ext cx="164592" cy="164592"/>
          </a:xfrm>
          <a:prstGeom prst="ellipse">
            <a:avLst/>
          </a:prstGeom>
          <a:solidFill>
            <a:srgbClr val="F4A6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70432" y="5230368"/>
            <a:ext cx="10158984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522CBA"/>
                </a:solidFill>
                <a:latin typeface="IBM Plex Sans"/>
              </a:rPr>
              <a:t>The gap widens from 0.0759 at the best epoch to 0.2993 by epoch 50.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65760"/>
            <a:ext cx="11064240" cy="676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>
                <a:solidFill>
                  <a:srgbClr val="522CBA"/>
                </a:solidFill>
                <a:latin typeface="IBM Plex Sans"/>
              </a:rPr>
              <a:t>Part 9 - Learning rate</a:t>
            </a:r>
          </a:p>
        </p:txBody>
      </p:sp>
      <p:sp>
        <p:nvSpPr>
          <p:cNvPr id="3" name="Oval 2"/>
          <p:cNvSpPr/>
          <p:nvPr/>
        </p:nvSpPr>
        <p:spPr>
          <a:xfrm>
            <a:off x="585216" y="1143000"/>
            <a:ext cx="146304" cy="146304"/>
          </a:xfrm>
          <a:prstGeom prst="ellipse">
            <a:avLst/>
          </a:prstGeom>
          <a:solidFill>
            <a:srgbClr val="57E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9536" y="1042415"/>
            <a:ext cx="10789920" cy="4968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9B78F7"/>
                </a:solidFill>
                <a:latin typeface="IBM Plex Sans"/>
              </a:rPr>
              <a:t>0.01 / 0.001 / 0.0001, everything else held fixed</a:t>
            </a:r>
          </a:p>
          <a:p>
            <a:pPr algn="l"/>
            <a:r>
              <a:rPr sz="1100" b="0">
                <a:solidFill>
                  <a:srgbClr val="9B78F7"/>
                </a:solidFill>
                <a:latin typeface="IBM Plex Sans"/>
              </a:rPr>
              <a:t>Varied: learning rate 0.01 / 0.001 / 0.0001 · Fixed: 3 x 512 ReLU, Adam, batch 128, 50 epochs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72768"/>
            <a:ext cx="3566160" cy="15361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920_cell16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5482" y="1627631"/>
            <a:ext cx="2129050" cy="142646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315968" y="1572768"/>
            <a:ext cx="3566160" cy="15361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920_cell16_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8209" y="1627631"/>
            <a:ext cx="2101677" cy="142646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065007" y="1572768"/>
            <a:ext cx="3566160" cy="15361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920_cell16_0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97249" y="1627631"/>
            <a:ext cx="2101677" cy="142646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66928" y="3200400"/>
            <a:ext cx="3566160" cy="15361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920_cell16_0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9169" y="3255264"/>
            <a:ext cx="2101677" cy="1426464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4315968" y="3200400"/>
            <a:ext cx="3566160" cy="15361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920_cell16_0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48209" y="3255264"/>
            <a:ext cx="2101677" cy="1426464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065007" y="3200400"/>
            <a:ext cx="3566160" cy="15361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920_cell16_0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97249" y="3255264"/>
            <a:ext cx="2101677" cy="142646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66928" y="4809744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>
                <a:solidFill>
                  <a:srgbClr val="522CBA"/>
                </a:solidFill>
                <a:latin typeface="IBM Plex Sans"/>
              </a:rPr>
              <a:t>0.01  -&gt;  38.64%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15968" y="4809744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>
                <a:solidFill>
                  <a:srgbClr val="522CBA"/>
                </a:solidFill>
                <a:latin typeface="IBM Plex Sans"/>
              </a:rPr>
              <a:t>0.001  -&gt;  47.68%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65007" y="4809744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>
                <a:solidFill>
                  <a:srgbClr val="522CBA"/>
                </a:solidFill>
                <a:latin typeface="IBM Plex Sans"/>
              </a:rPr>
              <a:t>0.0001  -&gt;  52.64%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38928"/>
            <a:ext cx="11073384" cy="786384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859536" y="5449824"/>
            <a:ext cx="164592" cy="164592"/>
          </a:xfrm>
          <a:prstGeom prst="ellipse">
            <a:avLst/>
          </a:prstGeom>
          <a:solidFill>
            <a:srgbClr val="F4A6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170432" y="5230368"/>
            <a:ext cx="10158984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522CBA"/>
                </a:solidFill>
                <a:latin typeface="IBM Plex Sans"/>
              </a:rPr>
              <a:t>0.0001 wins on both accuracy and loss. At 0.001 the model peaks by epoch 12 then diverges to a loss of 2.87.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65760"/>
            <a:ext cx="11064240" cy="676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>
                <a:solidFill>
                  <a:srgbClr val="522CBA"/>
                </a:solidFill>
                <a:latin typeface="IBM Plex Sans"/>
              </a:rPr>
              <a:t>Part 10 - Batch size</a:t>
            </a:r>
          </a:p>
        </p:txBody>
      </p:sp>
      <p:sp>
        <p:nvSpPr>
          <p:cNvPr id="3" name="Oval 2"/>
          <p:cNvSpPr/>
          <p:nvPr/>
        </p:nvSpPr>
        <p:spPr>
          <a:xfrm>
            <a:off x="585216" y="1143000"/>
            <a:ext cx="146304" cy="146304"/>
          </a:xfrm>
          <a:prstGeom prst="ellipse">
            <a:avLst/>
          </a:prstGeom>
          <a:solidFill>
            <a:srgbClr val="57E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9536" y="1042415"/>
            <a:ext cx="10789920" cy="4968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9B78F7"/>
                </a:solidFill>
                <a:latin typeface="IBM Plex Sans"/>
              </a:rPr>
              <a:t>16 / 32 / 64 / 128 at the selected learning rate</a:t>
            </a:r>
          </a:p>
          <a:p>
            <a:pPr algn="l"/>
            <a:r>
              <a:rPr sz="1100" b="0">
                <a:solidFill>
                  <a:srgbClr val="9B78F7"/>
                </a:solidFill>
                <a:latin typeface="IBM Plex Sans"/>
              </a:rPr>
              <a:t>Varied: batch size 16 / 32 / 64 / 128 · Fixed: 3 x 512 ReLU, Adam 0.0001, 50 epochs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72768"/>
            <a:ext cx="2670048" cy="15361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920_cell24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641" y="1618488"/>
            <a:ext cx="2128621" cy="1444751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364992" y="1572768"/>
            <a:ext cx="2670048" cy="15361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920_cell24_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5705" y="1618488"/>
            <a:ext cx="2128621" cy="1444751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163056" y="1572768"/>
            <a:ext cx="2670048" cy="15361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920_cell24_1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3769" y="1618488"/>
            <a:ext cx="2128621" cy="1444751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961119" y="1572768"/>
            <a:ext cx="2670048" cy="15361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920_cell24_1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1833" y="1618488"/>
            <a:ext cx="2128621" cy="1444751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66928" y="3200400"/>
            <a:ext cx="2670048" cy="15361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920_cell24_1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7641" y="3246120"/>
            <a:ext cx="2128621" cy="1444751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3364992" y="3200400"/>
            <a:ext cx="2670048" cy="15361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920_cell24_1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35705" y="3246120"/>
            <a:ext cx="2128621" cy="1444751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6163056" y="3200400"/>
            <a:ext cx="2670048" cy="15361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920_cell24_1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19906" y="3246120"/>
            <a:ext cx="2156346" cy="1444751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8961119" y="3200400"/>
            <a:ext cx="2670048" cy="15361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920_cell24_1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31833" y="3246120"/>
            <a:ext cx="2128621" cy="144475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66928" y="4809744"/>
            <a:ext cx="26700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1">
                <a:solidFill>
                  <a:srgbClr val="522CBA"/>
                </a:solidFill>
                <a:latin typeface="IBM Plex Sans"/>
              </a:rPr>
              <a:t>16 -&gt; 50.58%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64992" y="4809744"/>
            <a:ext cx="26700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1">
                <a:solidFill>
                  <a:srgbClr val="522CBA"/>
                </a:solidFill>
                <a:latin typeface="IBM Plex Sans"/>
              </a:rPr>
              <a:t>32 -&gt; 50.92%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63056" y="4809744"/>
            <a:ext cx="26700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1">
                <a:solidFill>
                  <a:srgbClr val="522CBA"/>
                </a:solidFill>
                <a:latin typeface="IBM Plex Sans"/>
              </a:rPr>
              <a:t>64 -&gt; 52.04%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19" y="4809744"/>
            <a:ext cx="26700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1">
                <a:solidFill>
                  <a:srgbClr val="522CBA"/>
                </a:solidFill>
                <a:latin typeface="IBM Plex Sans"/>
              </a:rPr>
              <a:t>128 -&gt; 52.52%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5138928"/>
            <a:ext cx="11073384" cy="786384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859536" y="5449824"/>
            <a:ext cx="164592" cy="164592"/>
          </a:xfrm>
          <a:prstGeom prst="ellipse">
            <a:avLst/>
          </a:prstGeom>
          <a:solidFill>
            <a:srgbClr val="F4A6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170432" y="5230368"/>
            <a:ext cx="10158984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522CBA"/>
                </a:solidFill>
                <a:latin typeface="IBM Plex Sans"/>
              </a:rPr>
              <a:t>Accuracy improved at every step. Batch 16 reached 94% training accuracy and a validation loss of 3.42.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65760"/>
            <a:ext cx="11064240" cy="676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>
                <a:solidFill>
                  <a:srgbClr val="522CBA"/>
                </a:solidFill>
                <a:latin typeface="IBM Plex Sans"/>
              </a:rPr>
              <a:t>Part 11 - Optimizer</a:t>
            </a:r>
          </a:p>
        </p:txBody>
      </p:sp>
      <p:sp>
        <p:nvSpPr>
          <p:cNvPr id="3" name="Oval 2"/>
          <p:cNvSpPr/>
          <p:nvPr/>
        </p:nvSpPr>
        <p:spPr>
          <a:xfrm>
            <a:off x="585216" y="1143000"/>
            <a:ext cx="146304" cy="146304"/>
          </a:xfrm>
          <a:prstGeom prst="ellipse">
            <a:avLst/>
          </a:prstGeom>
          <a:solidFill>
            <a:srgbClr val="57E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9536" y="1042415"/>
            <a:ext cx="10789920" cy="4968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9B78F7"/>
                </a:solidFill>
                <a:latin typeface="IBM Plex Sans"/>
              </a:rPr>
              <a:t>Adam at 0.0001 against SGD at 0.01</a:t>
            </a:r>
          </a:p>
          <a:p>
            <a:pPr algn="l"/>
            <a:r>
              <a:rPr sz="1100" b="0">
                <a:solidFill>
                  <a:srgbClr val="9B78F7"/>
                </a:solidFill>
                <a:latin typeface="IBM Plex Sans"/>
              </a:rPr>
              <a:t>Varied: Adam 0.0001 vs SGD 0.01, no momentum · Fixed: 3 x 512 ReLU, batch 128, 50 epochs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72768"/>
            <a:ext cx="4251960" cy="3383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920_cell31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1849403"/>
            <a:ext cx="4032504" cy="2830009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01768" y="1572768"/>
            <a:ext cx="4251960" cy="3383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920_cell32_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1496" y="1832842"/>
            <a:ext cx="4032504" cy="286313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9436608" y="1572768"/>
            <a:ext cx="2203704" cy="3383280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9710928" y="1874519"/>
            <a:ext cx="137160" cy="137160"/>
          </a:xfrm>
          <a:prstGeom prst="ellipse">
            <a:avLst/>
          </a:prstGeom>
          <a:solidFill>
            <a:srgbClr val="F4A6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976104" y="1773936"/>
            <a:ext cx="1380744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9B78F7"/>
                </a:solidFill>
                <a:latin typeface="IBM Plex Sans"/>
              </a:rPr>
              <a:t>Adam wins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0928" y="2231136"/>
            <a:ext cx="1655064" cy="2514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52.78% against 49.28%</a:t>
            </a:r>
          </a:p>
          <a:p>
            <a:pPr algn="l">
              <a:spcAft>
                <a:spcPts val="400"/>
              </a:spcAft>
            </a:pPr>
            <a:endParaRPr sz="1300" b="0">
              <a:solidFill>
                <a:srgbClr val="000000"/>
              </a:solidFill>
              <a:latin typeface="IBM Plex Sans"/>
            </a:endParaRP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Min val loss 1.3932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against 1.4807</a:t>
            </a:r>
          </a:p>
          <a:p>
            <a:pPr algn="l">
              <a:spcAft>
                <a:spcPts val="400"/>
              </a:spcAft>
            </a:pPr>
            <a:endParaRPr sz="1300" b="0">
              <a:solidFill>
                <a:srgbClr val="000000"/>
              </a:solidFill>
              <a:latin typeface="IBM Plex Sans"/>
            </a:endParaRP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Peaks at epoch 31;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SGD is still climbing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at epoch 50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5138928"/>
            <a:ext cx="11073384" cy="786384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859536" y="5449824"/>
            <a:ext cx="164592" cy="164592"/>
          </a:xfrm>
          <a:prstGeom prst="ellipse">
            <a:avLst/>
          </a:prstGeom>
          <a:solidFill>
            <a:srgbClr val="F4A6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70432" y="5230368"/>
            <a:ext cx="10158984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522CBA"/>
                </a:solidFill>
                <a:latin typeface="IBM Plex Sans"/>
              </a:rPr>
              <a:t>The learning rates differ on purpose: Adam normalises its steps, so matched rates would cripple SGD.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65760"/>
            <a:ext cx="11064240" cy="676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>
                <a:solidFill>
                  <a:srgbClr val="522CBA"/>
                </a:solidFill>
                <a:latin typeface="IBM Plex Sans"/>
              </a:rPr>
              <a:t>Part 12 - Regularization</a:t>
            </a:r>
          </a:p>
        </p:txBody>
      </p:sp>
      <p:sp>
        <p:nvSpPr>
          <p:cNvPr id="3" name="Oval 2"/>
          <p:cNvSpPr/>
          <p:nvPr/>
        </p:nvSpPr>
        <p:spPr>
          <a:xfrm>
            <a:off x="585216" y="1143000"/>
            <a:ext cx="146304" cy="146304"/>
          </a:xfrm>
          <a:prstGeom prst="ellipse">
            <a:avLst/>
          </a:prstGeom>
          <a:solidFill>
            <a:srgbClr val="57E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9536" y="1042415"/>
            <a:ext cx="10789920" cy="4968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9B78F7"/>
                </a:solidFill>
                <a:latin typeface="IBM Plex Sans"/>
              </a:rPr>
              <a:t>Dropout 0.3, Early Stopping and L2 against an unregularized baseline</a:t>
            </a:r>
          </a:p>
          <a:p>
            <a:pPr algn="l"/>
            <a:r>
              <a:rPr sz="1100" b="0">
                <a:solidFill>
                  <a:srgbClr val="9B78F7"/>
                </a:solidFill>
                <a:latin typeface="IBM Plex Sans"/>
              </a:rPr>
              <a:t>Varied: none / Dropout 0.3 / EarlyStopping val_loss patience 5 / L2 0.0001 · Fixed: 3 x 512 ReLU, Adam 0.0001, batch 128, 50 epochs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72768"/>
            <a:ext cx="4251960" cy="3383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920_cell40_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1990248"/>
            <a:ext cx="4032504" cy="254831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01768" y="1572768"/>
            <a:ext cx="4251960" cy="3383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920_cell41_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1496" y="1963138"/>
            <a:ext cx="4032504" cy="260253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9436608" y="1572768"/>
            <a:ext cx="2203704" cy="3383280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9710928" y="1874519"/>
            <a:ext cx="137160" cy="137160"/>
          </a:xfrm>
          <a:prstGeom prst="ellipse">
            <a:avLst/>
          </a:prstGeom>
          <a:solidFill>
            <a:srgbClr val="57E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976104" y="1773936"/>
            <a:ext cx="1380744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9B78F7"/>
                </a:solidFill>
                <a:latin typeface="IBM Plex Sans"/>
              </a:rPr>
              <a:t>Dropout wins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0928" y="2231136"/>
            <a:ext cx="1655064" cy="2514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54.16% accuracy</a:t>
            </a:r>
          </a:p>
          <a:p>
            <a:pPr algn="l">
              <a:spcAft>
                <a:spcPts val="400"/>
              </a:spcAft>
            </a:pPr>
            <a:endParaRPr sz="1300" b="0">
              <a:solidFill>
                <a:srgbClr val="000000"/>
              </a:solidFill>
              <a:latin typeface="IBM Plex Sans"/>
            </a:endParaRP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Gap 32.11%  -&gt;  4.47%</a:t>
            </a:r>
          </a:p>
          <a:p>
            <a:pPr algn="l">
              <a:spcAft>
                <a:spcPts val="400"/>
              </a:spcAft>
            </a:pPr>
            <a:endParaRPr sz="1300" b="0">
              <a:solidFill>
                <a:srgbClr val="000000"/>
              </a:solidFill>
              <a:latin typeface="IBM Plex Sans"/>
            </a:endParaRP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Val loss 1.3022,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the lowest of the four</a:t>
            </a:r>
          </a:p>
          <a:p>
            <a:pPr algn="l">
              <a:spcAft>
                <a:spcPts val="400"/>
              </a:spcAft>
            </a:pPr>
            <a:endParaRPr sz="1300" b="0">
              <a:solidFill>
                <a:srgbClr val="000000"/>
              </a:solidFill>
              <a:latin typeface="IBM Plex Sans"/>
            </a:endParaRP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Early Stopping 51.72%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L2 52.30%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5138928"/>
            <a:ext cx="11073384" cy="786384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859536" y="5449824"/>
            <a:ext cx="164592" cy="164592"/>
          </a:xfrm>
          <a:prstGeom prst="ellipse">
            <a:avLst/>
          </a:prstGeom>
          <a:solidFill>
            <a:srgbClr val="F4A6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70432" y="5230368"/>
            <a:ext cx="10158984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522CBA"/>
                </a:solidFill>
                <a:latin typeface="IBM Plex Sans"/>
              </a:rPr>
              <a:t>Dropout is the only technique that closes the gap rather than trimming it. L2 barely moves it.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65760"/>
            <a:ext cx="11064240" cy="676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>
                <a:solidFill>
                  <a:srgbClr val="522CBA"/>
                </a:solidFill>
                <a:latin typeface="IBM Plex Sans"/>
              </a:rPr>
              <a:t>Part 13 - Batch Normalization</a:t>
            </a:r>
          </a:p>
        </p:txBody>
      </p:sp>
      <p:sp>
        <p:nvSpPr>
          <p:cNvPr id="3" name="Oval 2"/>
          <p:cNvSpPr/>
          <p:nvPr/>
        </p:nvSpPr>
        <p:spPr>
          <a:xfrm>
            <a:off x="585216" y="1143000"/>
            <a:ext cx="146304" cy="146304"/>
          </a:xfrm>
          <a:prstGeom prst="ellipse">
            <a:avLst/>
          </a:prstGeom>
          <a:solidFill>
            <a:srgbClr val="57E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9536" y="1042415"/>
            <a:ext cx="10789920" cy="4968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9B78F7"/>
                </a:solidFill>
                <a:latin typeface="IBM Plex Sans"/>
              </a:rPr>
              <a:t>The same network, with and without BatchNorm after each Dense layer</a:t>
            </a:r>
          </a:p>
          <a:p>
            <a:pPr algn="l"/>
            <a:r>
              <a:rPr sz="1100" b="0">
                <a:solidFill>
                  <a:srgbClr val="9B78F7"/>
                </a:solidFill>
                <a:latin typeface="IBM Plex Sans"/>
              </a:rPr>
              <a:t>Varied: BatchNorm between Dense and ReLU · Fixed: 3 x 512, Adam 0.0001, batch 128, 50 epochs, no Dropout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72768"/>
            <a:ext cx="4251960" cy="3383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920_cell48_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1990248"/>
            <a:ext cx="4032504" cy="254831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01768" y="1572768"/>
            <a:ext cx="4251960" cy="3383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920_cell49_2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1496" y="1963138"/>
            <a:ext cx="4032504" cy="260253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9436608" y="1572768"/>
            <a:ext cx="2203704" cy="3383280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9710928" y="1874519"/>
            <a:ext cx="137160" cy="137160"/>
          </a:xfrm>
          <a:prstGeom prst="ellipse">
            <a:avLst/>
          </a:prstGeom>
          <a:solidFill>
            <a:srgbClr val="F4A6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976104" y="1773936"/>
            <a:ext cx="1380744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9B78F7"/>
                </a:solidFill>
                <a:latin typeface="IBM Plex Sans"/>
              </a:rPr>
              <a:t>It backfired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0928" y="2231136"/>
            <a:ext cx="1655064" cy="2514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Train 99.20%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Validation 40.70%</a:t>
            </a:r>
          </a:p>
          <a:p>
            <a:pPr algn="l">
              <a:spcAft>
                <a:spcPts val="400"/>
              </a:spcAft>
            </a:pPr>
            <a:endParaRPr sz="1300" b="0">
              <a:solidFill>
                <a:srgbClr val="000000"/>
              </a:solidFill>
              <a:latin typeface="IBM Plex Sans"/>
            </a:endParaRP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Gap 58.50%</a:t>
            </a:r>
          </a:p>
          <a:p>
            <a:pPr algn="l">
              <a:spcAft>
                <a:spcPts val="400"/>
              </a:spcAft>
            </a:pPr>
            <a:endParaRPr sz="1300" b="0">
              <a:solidFill>
                <a:srgbClr val="000000"/>
              </a:solidFill>
              <a:latin typeface="IBM Plex Sans"/>
            </a:endParaRP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Final val loss 4.4448</a:t>
            </a:r>
          </a:p>
          <a:p>
            <a:pPr algn="l">
              <a:spcAft>
                <a:spcPts val="400"/>
              </a:spcAft>
            </a:pPr>
            <a:endParaRPr sz="1300" b="0">
              <a:solidFill>
                <a:srgbClr val="000000"/>
              </a:solidFill>
              <a:latin typeface="IBM Plex Sans"/>
            </a:endParaRP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Best val accuracy fell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from 53.18% to 44.64%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5138928"/>
            <a:ext cx="11073384" cy="786384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859536" y="5449824"/>
            <a:ext cx="164592" cy="164592"/>
          </a:xfrm>
          <a:prstGeom prst="ellipse">
            <a:avLst/>
          </a:prstGeom>
          <a:solidFill>
            <a:srgbClr val="F4A6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70432" y="5230368"/>
            <a:ext cx="10158984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522CBA"/>
                </a:solidFill>
                <a:latin typeface="IBM Plex Sans"/>
              </a:rPr>
              <a:t>The clearest demonstration in the project that high training accuracy is not evidence of a good model.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65760"/>
            <a:ext cx="11064240" cy="676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>
                <a:solidFill>
                  <a:srgbClr val="522CBA"/>
                </a:solidFill>
                <a:latin typeface="IBM Plex Sans"/>
              </a:rPr>
              <a:t>Part 14 - Ablation</a:t>
            </a:r>
          </a:p>
        </p:txBody>
      </p:sp>
      <p:sp>
        <p:nvSpPr>
          <p:cNvPr id="3" name="Oval 2"/>
          <p:cNvSpPr/>
          <p:nvPr/>
        </p:nvSpPr>
        <p:spPr>
          <a:xfrm>
            <a:off x="585216" y="1143000"/>
            <a:ext cx="146304" cy="146304"/>
          </a:xfrm>
          <a:prstGeom prst="ellipse">
            <a:avLst/>
          </a:prstGeom>
          <a:solidFill>
            <a:srgbClr val="57E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9536" y="1042415"/>
            <a:ext cx="10789920" cy="4968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9B78F7"/>
                </a:solidFill>
                <a:latin typeface="IBM Plex Sans"/>
              </a:rPr>
              <a:t>One variable removed, everything else identical</a:t>
            </a:r>
          </a:p>
          <a:p>
            <a:pPr algn="l"/>
            <a:r>
              <a:rPr sz="1100" b="0">
                <a:solidFill>
                  <a:srgbClr val="9B78F7"/>
                </a:solidFill>
                <a:latin typeface="IBM Plex Sans"/>
              </a:rPr>
              <a:t>Varied: Dropout 0.3 present or absent · Fixed: 3 x 512 ReLU, Adam 0.0001, batch 128, 50 epochs, seed 42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72768"/>
            <a:ext cx="6949440" cy="3383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920_cell55_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4478" y="1682496"/>
            <a:ext cx="4954339" cy="316382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699248" y="1572768"/>
            <a:ext cx="3941063" cy="1600200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7973568" y="1874519"/>
            <a:ext cx="137160" cy="137160"/>
          </a:xfrm>
          <a:prstGeom prst="ellipse">
            <a:avLst/>
          </a:prstGeom>
          <a:solidFill>
            <a:srgbClr val="57E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38744" y="1773936"/>
            <a:ext cx="3118103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9B78F7"/>
                </a:solidFill>
                <a:latin typeface="IBM Plex Sans"/>
              </a:rPr>
              <a:t>Dropout does the work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73568" y="2231136"/>
            <a:ext cx="3392423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Final validation accuracy 54.40% against 51.04%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Gap 4.74% against 30.76%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99248" y="3355848"/>
            <a:ext cx="3941063" cy="1600200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7973568" y="3657600"/>
            <a:ext cx="137160" cy="137160"/>
          </a:xfrm>
          <a:prstGeom prst="ellipse">
            <a:avLst/>
          </a:prstGeom>
          <a:solidFill>
            <a:srgbClr val="F4A6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38744" y="3557016"/>
            <a:ext cx="3118103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9B78F7"/>
                </a:solidFill>
                <a:latin typeface="IBM Plex Sans"/>
              </a:rPr>
              <a:t>And the peak as well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73568" y="4014215"/>
            <a:ext cx="3392423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Best validation accuracy 54.62% with Dropout,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52.84% without: 89 images out of 5,000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138928"/>
            <a:ext cx="11073384" cy="786384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859536" y="5449824"/>
            <a:ext cx="164592" cy="164592"/>
          </a:xfrm>
          <a:prstGeom prst="ellipse">
            <a:avLst/>
          </a:prstGeom>
          <a:solidFill>
            <a:srgbClr val="F4A6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170432" y="5230368"/>
            <a:ext cx="10158984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522CBA"/>
                </a:solidFill>
                <a:latin typeface="IBM Plex Sans"/>
              </a:rPr>
              <a:t>Dropout raises the peak and closes the gap at the same time. It is the regularizer carried into the final model.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65760"/>
            <a:ext cx="11064240" cy="676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>
                <a:solidFill>
                  <a:srgbClr val="522CBA"/>
                </a:solidFill>
                <a:latin typeface="IBM Plex Sans"/>
              </a:rPr>
              <a:t>Parts 15-16 - Final model and test</a:t>
            </a:r>
          </a:p>
        </p:txBody>
      </p:sp>
      <p:sp>
        <p:nvSpPr>
          <p:cNvPr id="3" name="Oval 2"/>
          <p:cNvSpPr/>
          <p:nvPr/>
        </p:nvSpPr>
        <p:spPr>
          <a:xfrm>
            <a:off x="585216" y="1143000"/>
            <a:ext cx="146304" cy="146304"/>
          </a:xfrm>
          <a:prstGeom prst="ellipse">
            <a:avLst/>
          </a:prstGeom>
          <a:solidFill>
            <a:srgbClr val="57E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9536" y="1042415"/>
            <a:ext cx="10789920" cy="4968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9B78F7"/>
                </a:solidFill>
                <a:latin typeface="IBM Plex Sans"/>
              </a:rPr>
              <a:t>3 x 512, Adam 0.0001, batch 128, Dropout 0.3, Early Stopping</a:t>
            </a:r>
          </a:p>
          <a:p>
            <a:pPr algn="l"/>
            <a:r>
              <a:rPr sz="1100" b="0">
                <a:solidFill>
                  <a:srgbClr val="9B78F7"/>
                </a:solidFill>
                <a:latin typeface="IBM Plex Sans"/>
              </a:rPr>
              <a:t>3 x 512 ReLU · Dropout 0.3 · Adam 0.0001 · batch 128 · max 50 epochs, EarlyStopping val_loss patience 5, restore best · seed 42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72768"/>
            <a:ext cx="3931920" cy="3383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920_cell61_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819" y="1682496"/>
            <a:ext cx="3540137" cy="316382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681728" y="1572768"/>
            <a:ext cx="3383280" cy="3383280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4956048" y="1874519"/>
            <a:ext cx="137160" cy="137160"/>
          </a:xfrm>
          <a:prstGeom prst="ellipse">
            <a:avLst/>
          </a:prstGeom>
          <a:solidFill>
            <a:srgbClr val="57E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221224" y="1773936"/>
            <a:ext cx="256032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9B78F7"/>
                </a:solidFill>
                <a:latin typeface="IBM Plex Sans"/>
              </a:rPr>
              <a:t>Per-class F1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56048" y="2231136"/>
            <a:ext cx="2834640" cy="2514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ship  0.66            frog  0.59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automobile  0.66     truck  0.59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airplane  0.61       deer  0.47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horse  0.60         dog  0.43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                              bird  0.43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                              cat  0.36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47888" y="1572768"/>
            <a:ext cx="1645920" cy="1600200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8522208" y="1874519"/>
            <a:ext cx="137160" cy="137160"/>
          </a:xfrm>
          <a:prstGeom prst="ellipse">
            <a:avLst/>
          </a:prstGeom>
          <a:solidFill>
            <a:srgbClr val="57E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522208" y="2139696"/>
            <a:ext cx="10972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>
                <a:solidFill>
                  <a:srgbClr val="522CBA"/>
                </a:solidFill>
                <a:latin typeface="IBM Plex Sans"/>
              </a:rPr>
              <a:t>54.08%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22208" y="2651760"/>
            <a:ext cx="10972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IBM Plex Sans"/>
              </a:rPr>
              <a:t>test accuracy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994392" y="1572768"/>
            <a:ext cx="1645920" cy="1600200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10268712" y="1874519"/>
            <a:ext cx="137160" cy="137160"/>
          </a:xfrm>
          <a:prstGeom prst="ellipse">
            <a:avLst/>
          </a:prstGeom>
          <a:solidFill>
            <a:srgbClr val="F4A6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268712" y="2139696"/>
            <a:ext cx="10972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>
                <a:solidFill>
                  <a:srgbClr val="522CBA"/>
                </a:solidFill>
                <a:latin typeface="IBM Plex Sans"/>
              </a:rPr>
              <a:t>53.99%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68712" y="2651760"/>
            <a:ext cx="10972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IBM Plex Sans"/>
              </a:rPr>
              <a:t>weighted F1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47888" y="3355848"/>
            <a:ext cx="1645920" cy="1600200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8522208" y="3657600"/>
            <a:ext cx="137160" cy="137160"/>
          </a:xfrm>
          <a:prstGeom prst="ellipse">
            <a:avLst/>
          </a:prstGeom>
          <a:solidFill>
            <a:srgbClr val="F4A6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522208" y="3922776"/>
            <a:ext cx="10972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>
                <a:solidFill>
                  <a:srgbClr val="522CBA"/>
                </a:solidFill>
                <a:latin typeface="IBM Plex Sans"/>
              </a:rPr>
              <a:t>1.2815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22208" y="4434840"/>
            <a:ext cx="10972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IBM Plex Sans"/>
              </a:rPr>
              <a:t>test loss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994392" y="3355848"/>
            <a:ext cx="1645920" cy="1600200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10268712" y="3657600"/>
            <a:ext cx="137160" cy="137160"/>
          </a:xfrm>
          <a:prstGeom prst="ellipse">
            <a:avLst/>
          </a:prstGeom>
          <a:solidFill>
            <a:srgbClr val="57E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268712" y="3922776"/>
            <a:ext cx="10972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>
                <a:solidFill>
                  <a:srgbClr val="522CBA"/>
                </a:solidFill>
                <a:latin typeface="IBM Plex Sans"/>
              </a:rPr>
              <a:t>2.1M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68712" y="4434840"/>
            <a:ext cx="10972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IBM Plex Sans"/>
              </a:rPr>
              <a:t>parameters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5138928"/>
            <a:ext cx="11073384" cy="786384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859536" y="5449824"/>
            <a:ext cx="164592" cy="164592"/>
          </a:xfrm>
          <a:prstGeom prst="ellipse">
            <a:avLst/>
          </a:prstGeom>
          <a:solidFill>
            <a:srgbClr val="F4A6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170432" y="5230368"/>
            <a:ext cx="10158984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522CBA"/>
                </a:solidFill>
                <a:latin typeface="IBM Plex Sans"/>
              </a:rPr>
              <a:t>The test set was opened exactly once, after every architecture and hyperparameter decision was final.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65760"/>
            <a:ext cx="11064240" cy="676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>
                <a:solidFill>
                  <a:srgbClr val="522CBA"/>
                </a:solidFill>
                <a:latin typeface="IBM Plex Sans"/>
              </a:rPr>
              <a:t>Part 17 - Where it fails</a:t>
            </a:r>
          </a:p>
        </p:txBody>
      </p:sp>
      <p:sp>
        <p:nvSpPr>
          <p:cNvPr id="3" name="Oval 2"/>
          <p:cNvSpPr/>
          <p:nvPr/>
        </p:nvSpPr>
        <p:spPr>
          <a:xfrm>
            <a:off x="585216" y="1143000"/>
            <a:ext cx="146304" cy="146304"/>
          </a:xfrm>
          <a:prstGeom prst="ellipse">
            <a:avLst/>
          </a:prstGeom>
          <a:solidFill>
            <a:srgbClr val="57E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9536" y="1042415"/>
            <a:ext cx="10789920" cy="4968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9B78F7"/>
                </a:solidFill>
                <a:latin typeface="IBM Plex Sans"/>
              </a:rPr>
              <a:t>The mistakes are concentrated between visually similar classes</a:t>
            </a:r>
          </a:p>
          <a:p>
            <a:pPr algn="l"/>
            <a:r>
              <a:rPr sz="1100" b="0">
                <a:solidFill>
                  <a:srgbClr val="9B78F7"/>
                </a:solidFill>
                <a:latin typeface="IBM Plex Sans"/>
              </a:rPr>
              <a:t>Final model: 3 x 512 ReLU · Dropout 0.3 · Adam 0.0001 · batch 128 · EarlyStopping, best weights restored · seed 42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72768"/>
            <a:ext cx="7498079" cy="3383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920_cell64_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0766" y="1682496"/>
            <a:ext cx="6370402" cy="316382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247888" y="1572768"/>
            <a:ext cx="3392424" cy="1600200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8522208" y="1874519"/>
            <a:ext cx="137160" cy="137160"/>
          </a:xfrm>
          <a:prstGeom prst="ellipse">
            <a:avLst/>
          </a:prstGeom>
          <a:solidFill>
            <a:srgbClr val="F4A6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787384" y="1773936"/>
            <a:ext cx="2569464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9B78F7"/>
                </a:solidFill>
                <a:latin typeface="IBM Plex Sans"/>
              </a:rPr>
              <a:t>Hardest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22208" y="2231136"/>
            <a:ext cx="2843784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cat  35.96% F1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bird  42.51%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dog  42.82%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47888" y="3355848"/>
            <a:ext cx="3392424" cy="1600200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8522208" y="3657600"/>
            <a:ext cx="137160" cy="137160"/>
          </a:xfrm>
          <a:prstGeom prst="ellipse">
            <a:avLst/>
          </a:prstGeom>
          <a:solidFill>
            <a:srgbClr val="57E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787384" y="3557016"/>
            <a:ext cx="2569464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9B78F7"/>
                </a:solidFill>
                <a:latin typeface="IBM Plex Sans"/>
              </a:rPr>
              <a:t>Easiest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22208" y="4014215"/>
            <a:ext cx="2843784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ship  66.08% F1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automobile  65.58%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airplane  61.38%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138928"/>
            <a:ext cx="11073384" cy="786384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859536" y="5449824"/>
            <a:ext cx="164592" cy="164592"/>
          </a:xfrm>
          <a:prstGeom prst="ellipse">
            <a:avLst/>
          </a:prstGeom>
          <a:solidFill>
            <a:srgbClr val="F4A6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170432" y="5230368"/>
            <a:ext cx="10158984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522CBA"/>
                </a:solidFill>
                <a:latin typeface="IBM Plex Sans"/>
              </a:rPr>
              <a:t>Cat and dog account for 383 errors between them, the largest confusion pair in the matrix.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65760"/>
            <a:ext cx="11064240" cy="676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>
                <a:solidFill>
                  <a:srgbClr val="522CBA"/>
                </a:solidFill>
                <a:latin typeface="IBM Plex Sans"/>
              </a:rPr>
              <a:t>Extra - Data augmentation</a:t>
            </a:r>
          </a:p>
        </p:txBody>
      </p:sp>
      <p:sp>
        <p:nvSpPr>
          <p:cNvPr id="3" name="Oval 2"/>
          <p:cNvSpPr/>
          <p:nvPr/>
        </p:nvSpPr>
        <p:spPr>
          <a:xfrm>
            <a:off x="585216" y="1143000"/>
            <a:ext cx="146304" cy="146304"/>
          </a:xfrm>
          <a:prstGeom prst="ellipse">
            <a:avLst/>
          </a:prstGeom>
          <a:solidFill>
            <a:srgbClr val="57E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9536" y="1042415"/>
            <a:ext cx="10789920" cy="4968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9B78F7"/>
                </a:solidFill>
                <a:latin typeface="IBM Plex Sans"/>
              </a:rPr>
              <a:t>Random flip and shift, applied before the image is flattened</a:t>
            </a:r>
          </a:p>
          <a:p>
            <a:pPr algn="l"/>
            <a:r>
              <a:rPr sz="1100" b="0">
                <a:solidFill>
                  <a:srgbClr val="9B78F7"/>
                </a:solidFill>
                <a:latin typeface="IBM Plex Sans"/>
              </a:rPr>
              <a:t>Varied: none / RandomFlip horizontal / + RandomTranslation 0.1 · Fixed: 3 x 512 ReLU, Adam 0.0001, batch 128, 100 epochs, seed 42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72768"/>
            <a:ext cx="5120640" cy="3383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920_cell69_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2428547"/>
            <a:ext cx="4901183" cy="1671721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870448" y="1572768"/>
            <a:ext cx="3291840" cy="3383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920_cell69_2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175" y="2221753"/>
            <a:ext cx="3072384" cy="208530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9345168" y="1572768"/>
            <a:ext cx="2295144" cy="3383280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9619488" y="1874519"/>
            <a:ext cx="137160" cy="137160"/>
          </a:xfrm>
          <a:prstGeom prst="ellipse">
            <a:avLst/>
          </a:prstGeom>
          <a:solidFill>
            <a:srgbClr val="F4A6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884664" y="1773936"/>
            <a:ext cx="1472184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9B78F7"/>
                </a:solidFill>
                <a:latin typeface="IBM Plex Sans"/>
              </a:rPr>
              <a:t>The biggest gain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19488" y="2231136"/>
            <a:ext cx="1746503" cy="2514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No augmentation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52.84%,  gap 0.4085</a:t>
            </a:r>
          </a:p>
          <a:p>
            <a:pPr algn="l">
              <a:spcAft>
                <a:spcPts val="400"/>
              </a:spcAft>
            </a:pPr>
            <a:endParaRPr sz="1300" b="0">
              <a:solidFill>
                <a:srgbClr val="000000"/>
              </a:solidFill>
              <a:latin typeface="IBM Plex Sans"/>
            </a:endParaRP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Flip only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54.92%,  gap 0.3631</a:t>
            </a:r>
          </a:p>
          <a:p>
            <a:pPr algn="l">
              <a:spcAft>
                <a:spcPts val="400"/>
              </a:spcAft>
            </a:pPr>
            <a:endParaRPr sz="1300" b="0">
              <a:solidFill>
                <a:srgbClr val="000000"/>
              </a:solidFill>
              <a:latin typeface="IBM Plex Sans"/>
            </a:endParaRP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Flip + Shift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59.12%,  gap 0.0791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5138928"/>
            <a:ext cx="11073384" cy="786384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859536" y="5449824"/>
            <a:ext cx="164592" cy="164592"/>
          </a:xfrm>
          <a:prstGeom prst="ellipse">
            <a:avLst/>
          </a:prstGeom>
          <a:solidFill>
            <a:srgbClr val="F4A6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70432" y="5230368"/>
            <a:ext cx="10158984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522CBA"/>
                </a:solidFill>
                <a:latin typeface="IBM Plex Sans"/>
              </a:rPr>
              <a:t>+6.28 points and the gap nearly closed. The strongest single result in the project, and it cost no parameters.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65760"/>
            <a:ext cx="11064240" cy="676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>
                <a:solidFill>
                  <a:srgbClr val="522CBA"/>
                </a:solidFill>
                <a:latin typeface="IBM Plex Sans"/>
              </a:rPr>
              <a:t>What moved the needle</a:t>
            </a:r>
          </a:p>
        </p:txBody>
      </p:sp>
      <p:sp>
        <p:nvSpPr>
          <p:cNvPr id="3" name="Oval 2"/>
          <p:cNvSpPr/>
          <p:nvPr/>
        </p:nvSpPr>
        <p:spPr>
          <a:xfrm>
            <a:off x="585216" y="1143000"/>
            <a:ext cx="146304" cy="146304"/>
          </a:xfrm>
          <a:prstGeom prst="ellipse">
            <a:avLst/>
          </a:prstGeom>
          <a:solidFill>
            <a:srgbClr val="57E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9536" y="1042415"/>
            <a:ext cx="1078992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9B78F7"/>
                </a:solidFill>
                <a:latin typeface="IBM Plex Sans"/>
              </a:rPr>
              <a:t>Six findings that shaped the result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72768"/>
            <a:ext cx="3566160" cy="1572768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841247" y="1847088"/>
            <a:ext cx="137160" cy="137160"/>
          </a:xfrm>
          <a:prstGeom prst="ellipse">
            <a:avLst/>
          </a:prstGeom>
          <a:solidFill>
            <a:srgbClr val="57E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7" y="2075688"/>
            <a:ext cx="301752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>
                <a:solidFill>
                  <a:srgbClr val="9B78F7"/>
                </a:solidFill>
                <a:latin typeface="IBM Plex San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2414016"/>
            <a:ext cx="31089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522CBA"/>
                </a:solidFill>
                <a:latin typeface="IBM Plex Sans"/>
              </a:rPr>
              <a:t>Depth did almost nothing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2743200"/>
            <a:ext cx="3108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0000"/>
                </a:solidFill>
                <a:latin typeface="IBM Plex Sans"/>
              </a:rPr>
              <a:t>0.76 points across 1, 3 and 5 layers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5968" y="1572768"/>
            <a:ext cx="3566160" cy="1572768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4590288" y="1847088"/>
            <a:ext cx="137160" cy="137160"/>
          </a:xfrm>
          <a:prstGeom prst="ellipse">
            <a:avLst/>
          </a:prstGeom>
          <a:solidFill>
            <a:srgbClr val="F4A6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90288" y="2075688"/>
            <a:ext cx="301752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>
                <a:solidFill>
                  <a:srgbClr val="9B78F7"/>
                </a:solidFill>
                <a:latin typeface="IBM Plex San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0288" y="2414016"/>
            <a:ext cx="31089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522CBA"/>
                </a:solidFill>
                <a:latin typeface="IBM Plex Sans"/>
              </a:rPr>
              <a:t>Width is where the parameters live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0288" y="2743200"/>
            <a:ext cx="3108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0000"/>
                </a:solidFill>
                <a:latin typeface="IBM Plex Sans"/>
              </a:rPr>
              <a:t>the first layer holds 75% of them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65007" y="1572768"/>
            <a:ext cx="3566160" cy="1572768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8339327" y="1847088"/>
            <a:ext cx="137160" cy="137160"/>
          </a:xfrm>
          <a:prstGeom prst="ellipse">
            <a:avLst/>
          </a:prstGeom>
          <a:solidFill>
            <a:srgbClr val="57E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39327" y="2075688"/>
            <a:ext cx="301752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>
                <a:solidFill>
                  <a:srgbClr val="9B78F7"/>
                </a:solidFill>
                <a:latin typeface="IBM Plex San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9327" y="2414016"/>
            <a:ext cx="31089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522CBA"/>
                </a:solidFill>
                <a:latin typeface="IBM Plex Sans"/>
              </a:rPr>
              <a:t>Every architecture overfit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9327" y="2743200"/>
            <a:ext cx="3108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0000"/>
                </a:solidFill>
                <a:latin typeface="IBM Plex Sans"/>
              </a:rPr>
              <a:t>training 82%, validation 52%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3310128"/>
            <a:ext cx="3566160" cy="1572768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841247" y="3584448"/>
            <a:ext cx="137160" cy="137160"/>
          </a:xfrm>
          <a:prstGeom prst="ellipse">
            <a:avLst/>
          </a:prstGeom>
          <a:solidFill>
            <a:srgbClr val="F4A6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41247" y="3813048"/>
            <a:ext cx="301752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>
                <a:solidFill>
                  <a:srgbClr val="9B78F7"/>
                </a:solidFill>
                <a:latin typeface="IBM Plex Sans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7" y="4151376"/>
            <a:ext cx="31089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522CBA"/>
                </a:solidFill>
                <a:latin typeface="IBM Plex Sans"/>
              </a:rPr>
              <a:t>Regularization beat architecture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7" y="4480560"/>
            <a:ext cx="3108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0000"/>
                </a:solidFill>
                <a:latin typeface="IBM Plex Sans"/>
              </a:rPr>
              <a:t>Dropout closed the gap 32% to 4%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15968" y="3310128"/>
            <a:ext cx="3566160" cy="1572768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4590288" y="3584448"/>
            <a:ext cx="137160" cy="137160"/>
          </a:xfrm>
          <a:prstGeom prst="ellipse">
            <a:avLst/>
          </a:prstGeom>
          <a:solidFill>
            <a:srgbClr val="57E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590288" y="3813048"/>
            <a:ext cx="301752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>
                <a:solidFill>
                  <a:srgbClr val="9B78F7"/>
                </a:solidFill>
                <a:latin typeface="IBM Plex Sans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90288" y="4151376"/>
            <a:ext cx="31089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522CBA"/>
                </a:solidFill>
                <a:latin typeface="IBM Plex Sans"/>
              </a:rPr>
              <a:t>BatchNorm made it worse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90288" y="4480560"/>
            <a:ext cx="3108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0000"/>
                </a:solidFill>
                <a:latin typeface="IBM Plex Sans"/>
              </a:rPr>
              <a:t>99.20% train, 40.70% validation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65007" y="3310128"/>
            <a:ext cx="3566160" cy="1572768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8339327" y="3584448"/>
            <a:ext cx="137160" cy="137160"/>
          </a:xfrm>
          <a:prstGeom prst="ellipse">
            <a:avLst/>
          </a:prstGeom>
          <a:solidFill>
            <a:srgbClr val="F4A6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339327" y="3813048"/>
            <a:ext cx="301752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>
                <a:solidFill>
                  <a:srgbClr val="9B78F7"/>
                </a:solidFill>
                <a:latin typeface="IBM Plex Sans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39327" y="4151376"/>
            <a:ext cx="31089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522CBA"/>
                </a:solidFill>
                <a:latin typeface="IBM Plex Sans"/>
              </a:rPr>
              <a:t>Augmentation won outright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39327" y="4480560"/>
            <a:ext cx="3108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0000"/>
                </a:solidFill>
                <a:latin typeface="IBM Plex Sans"/>
              </a:rPr>
              <a:t>59.12%, the best score recorded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66928" y="5138928"/>
            <a:ext cx="11073384" cy="786384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859536" y="5449824"/>
            <a:ext cx="164592" cy="164592"/>
          </a:xfrm>
          <a:prstGeom prst="ellipse">
            <a:avLst/>
          </a:prstGeom>
          <a:solidFill>
            <a:srgbClr val="F4A6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170432" y="5230368"/>
            <a:ext cx="10158984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522CBA"/>
                </a:solidFill>
                <a:latin typeface="IBM Plex Sans"/>
              </a:rPr>
              <a:t>The constraint in the brief mattered more to the final number than any hyperparameter chosen after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65760"/>
            <a:ext cx="11064240" cy="676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>
                <a:solidFill>
                  <a:srgbClr val="522CBA"/>
                </a:solidFill>
                <a:latin typeface="IBM Plex Sans"/>
              </a:rPr>
              <a:t>Part 20 - Why this needs a CNN</a:t>
            </a:r>
          </a:p>
        </p:txBody>
      </p:sp>
      <p:sp>
        <p:nvSpPr>
          <p:cNvPr id="3" name="Oval 2"/>
          <p:cNvSpPr/>
          <p:nvPr/>
        </p:nvSpPr>
        <p:spPr>
          <a:xfrm>
            <a:off x="585216" y="1143000"/>
            <a:ext cx="146304" cy="146304"/>
          </a:xfrm>
          <a:prstGeom prst="ellipse">
            <a:avLst/>
          </a:prstGeom>
          <a:solidFill>
            <a:srgbClr val="57E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9536" y="1042415"/>
            <a:ext cx="1078992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9B78F7"/>
                </a:solidFill>
                <a:latin typeface="IBM Plex Sans"/>
              </a:rPr>
              <a:t>The ceiling is architectural, not a tuning failure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72768"/>
            <a:ext cx="3566160" cy="3383280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841247" y="1874519"/>
            <a:ext cx="137160" cy="137160"/>
          </a:xfrm>
          <a:prstGeom prst="ellipse">
            <a:avLst/>
          </a:prstGeom>
          <a:solidFill>
            <a:srgbClr val="F4A6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06424" y="1773936"/>
            <a:ext cx="274320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9B78F7"/>
                </a:solidFill>
                <a:latin typeface="IBM Plex Sans"/>
              </a:rPr>
              <a:t>What flattening destroys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2231136"/>
            <a:ext cx="3017520" cy="2514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32 x 32 x 3  becomes  3,072 x 1</a:t>
            </a:r>
          </a:p>
          <a:p>
            <a:pPr algn="l">
              <a:spcAft>
                <a:spcPts val="400"/>
              </a:spcAft>
            </a:pPr>
            <a:endParaRPr sz="1300" b="0">
              <a:solidFill>
                <a:srgbClr val="000000"/>
              </a:solidFill>
              <a:latin typeface="IBM Plex Sans"/>
            </a:endParaRP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All pixel values survive, but their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arrangement does not</a:t>
            </a:r>
          </a:p>
          <a:p>
            <a:pPr algn="l">
              <a:spcAft>
                <a:spcPts val="400"/>
              </a:spcAft>
            </a:pPr>
            <a:endParaRPr sz="1300" b="0">
              <a:solidFill>
                <a:srgbClr val="000000"/>
              </a:solidFill>
              <a:latin typeface="IBM Plex Sans"/>
            </a:endParaRP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The model never learns that two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pixels are neighbours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572768"/>
            <a:ext cx="3566160" cy="3383280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4590288" y="1874519"/>
            <a:ext cx="137160" cy="137160"/>
          </a:xfrm>
          <a:prstGeom prst="ellipse">
            <a:avLst/>
          </a:prstGeom>
          <a:solidFill>
            <a:srgbClr val="57E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855464" y="1773936"/>
            <a:ext cx="274320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9B78F7"/>
                </a:solidFill>
                <a:latin typeface="IBM Plex Sans"/>
              </a:rPr>
              <a:t>What that costs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0288" y="2231136"/>
            <a:ext cx="3017520" cy="2514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Edges, corners and textures have to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be relearned at every position</a:t>
            </a:r>
          </a:p>
          <a:p>
            <a:pPr algn="l">
              <a:spcAft>
                <a:spcPts val="400"/>
              </a:spcAft>
            </a:pPr>
            <a:endParaRPr sz="1300" b="0">
              <a:solidFill>
                <a:srgbClr val="000000"/>
              </a:solidFill>
              <a:latin typeface="IBM Plex Sans"/>
            </a:endParaRP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A cat three pixels to the left is a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different input vector</a:t>
            </a:r>
          </a:p>
          <a:p>
            <a:pPr algn="l">
              <a:spcAft>
                <a:spcPts val="400"/>
              </a:spcAft>
            </a:pPr>
            <a:endParaRPr sz="1300" b="0">
              <a:solidFill>
                <a:srgbClr val="000000"/>
              </a:solidFill>
              <a:latin typeface="IBM Plex Sans"/>
            </a:endParaRP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This is why cat and dog collapse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into each other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65008" y="1572768"/>
            <a:ext cx="3575304" cy="3383280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8339328" y="1874519"/>
            <a:ext cx="137160" cy="137160"/>
          </a:xfrm>
          <a:prstGeom prst="ellipse">
            <a:avLst/>
          </a:prstGeom>
          <a:solidFill>
            <a:srgbClr val="F4A6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604504" y="1773936"/>
            <a:ext cx="2752344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9B78F7"/>
                </a:solidFill>
                <a:latin typeface="IBM Plex Sans"/>
              </a:rPr>
              <a:t>What a CNN gives back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39328" y="2231136"/>
            <a:ext cx="3026664" cy="2514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The same filter applied everywhere</a:t>
            </a:r>
          </a:p>
          <a:p>
            <a:pPr algn="l">
              <a:spcAft>
                <a:spcPts val="400"/>
              </a:spcAft>
            </a:pPr>
            <a:endParaRPr sz="1300" b="0">
              <a:solidFill>
                <a:srgbClr val="000000"/>
              </a:solidFill>
              <a:latin typeface="IBM Plex Sans"/>
            </a:endParaRP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Local patterns learned once and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reused across the image</a:t>
            </a:r>
          </a:p>
          <a:p>
            <a:pPr algn="l">
              <a:spcAft>
                <a:spcPts val="400"/>
              </a:spcAft>
            </a:pPr>
            <a:endParaRPr sz="1300" b="0">
              <a:solidFill>
                <a:srgbClr val="000000"/>
              </a:solidFill>
              <a:latin typeface="IBM Plex Sans"/>
            </a:endParaRP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Hierarchical features, from edges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to shapes to objects</a:t>
            </a:r>
          </a:p>
          <a:p>
            <a:pPr algn="l">
              <a:spcAft>
                <a:spcPts val="400"/>
              </a:spcAft>
            </a:pPr>
            <a:endParaRPr sz="1300" b="0">
              <a:solidFill>
                <a:srgbClr val="000000"/>
              </a:solidFill>
              <a:latin typeface="IBM Plex Sans"/>
            </a:endParaRP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IBM Plex Sans"/>
              </a:rPr>
              <a:t>Position no longer matters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138928"/>
            <a:ext cx="11073384" cy="786384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859536" y="5449824"/>
            <a:ext cx="164592" cy="164592"/>
          </a:xfrm>
          <a:prstGeom prst="ellipse">
            <a:avLst/>
          </a:prstGeom>
          <a:solidFill>
            <a:srgbClr val="F4A6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170432" y="5230368"/>
            <a:ext cx="10158984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522CBA"/>
                </a:solidFill>
                <a:latin typeface="IBM Plex Sans"/>
              </a:rPr>
              <a:t>Our augmentation result points the same way: the fix was more spatial variety, not more parameters.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9692640" y="-1280160"/>
            <a:ext cx="4206240" cy="4206240"/>
          </a:xfrm>
          <a:prstGeom prst="ellipse">
            <a:avLst/>
          </a:prstGeom>
          <a:solidFill>
            <a:srgbClr val="9B7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0332720" y="3017520"/>
            <a:ext cx="420624" cy="420624"/>
          </a:xfrm>
          <a:prstGeom prst="ellipse">
            <a:avLst/>
          </a:prstGeom>
          <a:solidFill>
            <a:srgbClr val="57E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064240" y="3520440"/>
            <a:ext cx="256032" cy="256032"/>
          </a:xfrm>
          <a:prstGeom prst="ellipse">
            <a:avLst/>
          </a:prstGeom>
          <a:solidFill>
            <a:srgbClr val="F4A6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645920"/>
            <a:ext cx="82296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9B78F7"/>
                </a:solidFill>
                <a:latin typeface="IBM Plex Sans"/>
              </a:rPr>
              <a:t>WHAT WE TOOK AWAY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84831"/>
            <a:ext cx="859536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800" b="1">
                <a:solidFill>
                  <a:srgbClr val="522CBA"/>
                </a:solidFill>
                <a:latin typeface="IBM Plex Sans"/>
              </a:rPr>
              <a:t>The architecture set the ceiling,</a:t>
            </a:r>
          </a:p>
          <a:p>
            <a:pPr algn="l"/>
            <a:r>
              <a:rPr sz="3800" b="1">
                <a:solidFill>
                  <a:srgbClr val="522CBA"/>
                </a:solidFill>
                <a:latin typeface="IBM Plex Sans"/>
              </a:rPr>
              <a:t>not the hyperparameters.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023360"/>
            <a:ext cx="3063240" cy="1325880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078992" y="4279392"/>
            <a:ext cx="137160" cy="137160"/>
          </a:xfrm>
          <a:prstGeom prst="ellipse">
            <a:avLst/>
          </a:prstGeom>
          <a:solidFill>
            <a:srgbClr val="57E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78992" y="4517136"/>
            <a:ext cx="26517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522CBA"/>
                </a:solidFill>
                <a:latin typeface="IBM Plex Sans"/>
              </a:rPr>
              <a:t>Hardest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4846320"/>
            <a:ext cx="265176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0000"/>
                </a:solidFill>
                <a:latin typeface="IBM Plex Sans"/>
              </a:rPr>
              <a:t>telling a real gain from validation-set noise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69080" y="4023360"/>
            <a:ext cx="3063240" cy="1325880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4325112" y="4279392"/>
            <a:ext cx="137160" cy="137160"/>
          </a:xfrm>
          <a:prstGeom prst="ellipse">
            <a:avLst/>
          </a:prstGeom>
          <a:solidFill>
            <a:srgbClr val="F4A6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25112" y="4517136"/>
            <a:ext cx="26517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522CBA"/>
                </a:solidFill>
                <a:latin typeface="IBM Plex Sans"/>
              </a:rPr>
              <a:t>Best judgement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25112" y="4846320"/>
            <a:ext cx="265176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0000"/>
                </a:solidFill>
                <a:latin typeface="IBM Plex Sans"/>
              </a:rPr>
              <a:t>selecting on the gap once accuracy tied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0" y="4023360"/>
            <a:ext cx="3063240" cy="1325880"/>
          </a:xfrm>
          <a:prstGeom prst="roundRect">
            <a:avLst>
              <a:gd name="adj" fmla="val 4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7571231" y="4279392"/>
            <a:ext cx="137160" cy="137160"/>
          </a:xfrm>
          <a:prstGeom prst="ellipse">
            <a:avLst/>
          </a:prstGeom>
          <a:solidFill>
            <a:srgbClr val="57E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571231" y="4517136"/>
            <a:ext cx="26517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522CBA"/>
                </a:solidFill>
                <a:latin typeface="IBM Plex Sans"/>
              </a:rPr>
              <a:t>Next time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71231" y="4846320"/>
            <a:ext cx="265176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0000"/>
                </a:solidFill>
                <a:latin typeface="IBM Plex Sans"/>
              </a:rPr>
              <a:t>start with augmentation, not with depth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76072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>
                <a:solidFill>
                  <a:srgbClr val="522CBA"/>
                </a:solidFill>
                <a:latin typeface="IBM Plex Sans"/>
              </a:rPr>
              <a:t>Thank you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217920"/>
            <a:ext cx="877824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dirty="0">
                <a:solidFill>
                  <a:srgbClr val="522CBA"/>
                </a:solidFill>
                <a:latin typeface="IBM Plex Sans"/>
              </a:rPr>
              <a:t>Khalid</a:t>
            </a:r>
            <a:r>
              <a:rPr lang="en-US" sz="1300" b="1" dirty="0">
                <a:solidFill>
                  <a:srgbClr val="522CBA"/>
                </a:solidFill>
                <a:latin typeface="IBM Plex Sans"/>
              </a:rPr>
              <a:t> </a:t>
            </a:r>
            <a:r>
              <a:rPr sz="1300" b="1" dirty="0">
                <a:solidFill>
                  <a:srgbClr val="522CBA"/>
                </a:solidFill>
                <a:latin typeface="IBM Plex Sans"/>
              </a:rPr>
              <a:t>·  </a:t>
            </a:r>
            <a:r>
              <a:rPr lang="en-US" sz="1300" b="1" dirty="0">
                <a:solidFill>
                  <a:srgbClr val="522CBA"/>
                </a:solidFill>
                <a:latin typeface="IBM Plex Sans"/>
              </a:rPr>
              <a:t>Wasan</a:t>
            </a:r>
            <a:endParaRPr sz="1300" b="1" dirty="0">
              <a:solidFill>
                <a:srgbClr val="522CBA"/>
              </a:solidFill>
              <a:latin typeface="IBM Plex San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1324</Words>
  <Application>Microsoft Office PowerPoint</Application>
  <PresentationFormat>Widescreen</PresentationFormat>
  <Paragraphs>261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IBM Plex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NYC Airbnb Listings: Exploratory Data Analysis</dc:title>
  <dc:subject>PptxGenJS Presentation</dc:subject>
  <dc:creator>Khalid Al Dosari</dc:creator>
  <cp:lastModifiedBy>KHALID ABDULLAH ALI ALDOSARI</cp:lastModifiedBy>
  <cp:revision>2</cp:revision>
  <dcterms:created xsi:type="dcterms:W3CDTF">2026-07-30T14:13:04Z</dcterms:created>
  <dcterms:modified xsi:type="dcterms:W3CDTF">2026-08-22T14:34:47Z</dcterms:modified>
</cp:coreProperties>
</file>
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82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18320" y="-1554480"/>
            <a:ext cx="4480560" cy="4480560"/>
          </a:xfrm>
          <a:prstGeom prst="ellipse">
            <a:avLst/>
          </a:prstGeom>
          <a:solidFill>
            <a:srgbClr val="9B7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972800" y="4572000"/>
            <a:ext cx="2377440" cy="2377440"/>
          </a:xfrm>
          <a:prstGeom prst="ellipse">
            <a:avLst/>
          </a:prstGeom>
          <a:solidFill>
            <a:srgbClr val="522C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104120" y="2788920"/>
            <a:ext cx="457200" cy="45720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927080" y="3310128"/>
            <a:ext cx="274320" cy="27432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9B78F7"/>
                </a:solidFill>
                <a:latin typeface="IBM Plex Sans"/>
              </a:rPr>
              <a:t>DEEP LEARNING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85953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>
                <a:solidFill>
                  <a:srgbClr val="522CBA"/>
                </a:solidFill>
                <a:latin typeface="IBM Plex Sans"/>
              </a:rPr>
              <a:t>CIFAR-10 with</a:t>
            </a:r>
          </a:p>
          <a:p>
            <a:pPr algn="l"/>
            <a:r>
              <a:rPr sz="4600" b="1">
                <a:solidFill>
                  <a:srgbClr val="522CBA"/>
                </a:solidFill>
                <a:latin typeface="IBM Plex Sans"/>
              </a:rPr>
              <a:t>Dense Networks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68496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How far can a fully connected network see, with no convolution allowed?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754880"/>
            <a:ext cx="118872" cy="118872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3,072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inputs per image</a:t>
            </a:r>
          </a:p>
        </p:txBody>
      </p:sp>
      <p:sp>
        <p:nvSpPr>
          <p:cNvPr id="12" name="Oval 11"/>
          <p:cNvSpPr/>
          <p:nvPr/>
        </p:nvSpPr>
        <p:spPr>
          <a:xfrm>
            <a:off x="2971800" y="4754880"/>
            <a:ext cx="118872" cy="11887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7180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experiments</a:t>
            </a:r>
          </a:p>
        </p:txBody>
      </p:sp>
      <p:sp>
        <p:nvSpPr>
          <p:cNvPr id="15" name="Oval 14"/>
          <p:cNvSpPr/>
          <p:nvPr/>
        </p:nvSpPr>
        <p:spPr>
          <a:xfrm>
            <a:off x="5120640" y="4754880"/>
            <a:ext cx="118872" cy="118872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54.08%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test accuracy</a:t>
            </a:r>
          </a:p>
        </p:txBody>
      </p:sp>
      <p:sp>
        <p:nvSpPr>
          <p:cNvPr id="18" name="Oval 17"/>
          <p:cNvSpPr/>
          <p:nvPr/>
        </p:nvSpPr>
        <p:spPr>
          <a:xfrm>
            <a:off x="7269480" y="4754880"/>
            <a:ext cx="118872" cy="11887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6948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59.12%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best with 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61888"/>
            <a:ext cx="8778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522CBA"/>
                </a:solidFill>
                <a:latin typeface="IBM Plex Sans"/>
              </a:rPr>
              <a:t>Khali</a:t>
            </a:r>
            <a:r>
              <a:rPr lang="en-US" sz="1400" b="1" dirty="0">
                <a:solidFill>
                  <a:srgbClr val="522CBA"/>
                </a:solidFill>
                <a:latin typeface="IBM Plex Sans"/>
              </a:rPr>
              <a:t>d - Wasan</a:t>
            </a:r>
            <a:endParaRPr sz="1400" b="1" dirty="0">
              <a:solidFill>
                <a:srgbClr val="522CBA"/>
              </a:solidFill>
              <a:latin typeface="IBM Plex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6291072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dirty="0">
                <a:solidFill>
                  <a:srgbClr val="000000"/>
                </a:solidFill>
                <a:latin typeface="IBM Plex Sans"/>
              </a:rPr>
              <a:t>Building &amp; Developing AI Models Bootcamp</a:t>
            </a:r>
            <a:endParaRPr sz="1200" b="0" dirty="0">
              <a:solidFill>
                <a:srgbClr val="000000"/>
              </a:solidFill>
              <a:latin typeface="IBM Plex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One rule shapes everything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No CNN, no Conv2D, no pretrained weights, no transfer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7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CIFAR-10, ten mutually exclusive classes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60,000 colour images at 32 x 32 x 3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Softmax output, sparse categorical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cross-entropy loss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9028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Dense layers only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Every image must be flattened before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it reaches the first layer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32 x 32 x 3  becomes  3,072 x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72768"/>
            <a:ext cx="35753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3932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04504" y="1773936"/>
            <a:ext cx="27523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that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231136"/>
            <a:ext cx="30266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One weight per pixel position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No translation invariance: shift an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object three pixels and almost every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input value changes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network must learn the same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object again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That single decision sets the ceiling for every experiment that follows.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The data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One row is one 32 x 32 colour image, ten balanced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760720" cy="27053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-02_cell17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682496"/>
            <a:ext cx="5541263" cy="24859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10528" y="1572768"/>
            <a:ext cx="5129784" cy="3361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02_cell16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1682496"/>
            <a:ext cx="4910328" cy="3141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57200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One example of each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4572000"/>
            <a:ext cx="5129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Fifteen random training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Ten mutually exclusive classes at 32 x 32 pixels. At this resolution the animal classes already look alike.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Preparation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Scaled, split once, and committed so every experiment shares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06240" cy="1673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-02_cell12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2" y="1682495"/>
            <a:ext cx="3378170" cy="14538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3337560"/>
            <a:ext cx="4206240" cy="1673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02_cell13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962" y="3447288"/>
            <a:ext cx="3378170" cy="14538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56048" y="1572768"/>
            <a:ext cx="3657600" cy="1726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1-02_cell09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1682495"/>
            <a:ext cx="3438144" cy="150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56048" y="333756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Exactly 6,000 images per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6528" y="1572768"/>
            <a:ext cx="284378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07084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36024" y="1773936"/>
            <a:ext cx="20208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31136"/>
            <a:ext cx="229514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45,000 train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5,000 validation, stratified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10,000 test, untouched until Part 16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Pixels scaled to [0, 1]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Indices saved to splits.npz and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committed to git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test set is opened once, at the very end. Every tuning decision is made on validation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3 - The baseline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One hidden layer, 512 units, Adam at 0.0001, batch 128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78638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08_cell10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89273"/>
            <a:ext cx="7644383" cy="255026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13648" y="1572768"/>
            <a:ext cx="302666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88796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87968" y="2139696"/>
            <a:ext cx="24780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52.22%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651760"/>
            <a:ext cx="24780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best validation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3355848"/>
            <a:ext cx="302666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887968" y="3657600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87968" y="3922776"/>
            <a:ext cx="24780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1,578,506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4434840"/>
            <a:ext cx="24780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trainable parameters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About 5x the 10% random-guess floor, and 99.7% of those parameters sit in the very first layer.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Parts 4-6 - Three depths, one width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Same data, same seed, same hyperparameters, only depth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522CBA"/>
                </a:solidFill>
                <a:latin typeface="IBM Plex Sans"/>
              </a:rPr>
              <a:t>Shallow  1 x 512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93392"/>
            <a:ext cx="3566160" cy="133596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308_cell22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103120"/>
            <a:ext cx="3346703" cy="11165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657600"/>
            <a:ext cx="3566160" cy="118872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41247" y="391363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4169663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22CBA"/>
                </a:solidFill>
                <a:latin typeface="IBM Plex Sans"/>
              </a:rPr>
              <a:t>52.22%   gap 0.15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162763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522CBA"/>
                </a:solidFill>
                <a:latin typeface="IBM Plex Sans"/>
              </a:rPr>
              <a:t>Medium  3 x 512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993392"/>
            <a:ext cx="3566160" cy="133596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308_cell24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103120"/>
            <a:ext cx="3346703" cy="111650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15968" y="3657600"/>
            <a:ext cx="3566160" cy="118872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590288" y="3913632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4169663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22CBA"/>
                </a:solidFill>
                <a:latin typeface="IBM Plex Sans"/>
              </a:rPr>
              <a:t>52.40%   gap 0.30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7" y="162763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522CBA"/>
                </a:solidFill>
                <a:latin typeface="IBM Plex Sans"/>
              </a:rPr>
              <a:t>Deep  5 x 512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7" y="1993392"/>
            <a:ext cx="3566160" cy="133596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0308_cell26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5" y="2103120"/>
            <a:ext cx="3346703" cy="1116505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065007" y="3657600"/>
            <a:ext cx="3566160" cy="118872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339327" y="391363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9327" y="4169663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22CBA"/>
                </a:solidFill>
                <a:latin typeface="IBM Plex Sans"/>
              </a:rPr>
              <a:t>52.98%   gap 0.33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Depth barely moves validation accuracy, but it steadily widens the gap between training and validation.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7 - The comparison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All three land within 38 images of each other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7498079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08_cell29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23092"/>
            <a:ext cx="7278623" cy="248263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47888" y="1572768"/>
            <a:ext cx="3392424" cy="102412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22208" y="1773936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96528" y="1700784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52.22%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22208" y="215798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Shallow  gap 0.15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2734056"/>
            <a:ext cx="3392424" cy="102412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22208" y="2935224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96528" y="286207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52.40%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3319272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Medium  gap 0.30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3895344"/>
            <a:ext cx="3392424" cy="102412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22208" y="409651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96528" y="40233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52.98%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8" y="4480560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Deep  gap 0.33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0.76 points apart on a 5,000-image validation set is inside the noise. Depth bought overfitting, not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8 - The diagnosis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Medium, 3 x 512, 2,103,818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931920" cy="27392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07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682496"/>
            <a:ext cx="3712463" cy="25197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81728" y="1572768"/>
            <a:ext cx="3931920" cy="27392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08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682496"/>
            <a:ext cx="3712463" cy="251974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96528" y="1572768"/>
            <a:ext cx="284378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07084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36024" y="1773936"/>
            <a:ext cx="20208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Overfitting, from epoch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70848" y="2231136"/>
            <a:ext cx="229514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Training loss falls all 50 epochs,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1.845 to 0.542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Validation loss bottoms at 1.4024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then rises 27% to 1.7835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Training accuracy reaches 0.820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and is still climbing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Fix: Early Stopping, best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weights restored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gap widens from 0.0759 at the best epoch to 0.2993 by epoch 50.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9 - Learning rate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0.01 / 0.001 / 0.0001, everything else held fixed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16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482" y="1627631"/>
            <a:ext cx="2129050" cy="14264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315968" y="1572768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16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09" y="1627631"/>
            <a:ext cx="2101677" cy="14264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65007" y="1572768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920_cell16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7249" y="1627631"/>
            <a:ext cx="2101677" cy="14264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3200400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920_cell16_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9169" y="3255264"/>
            <a:ext cx="2101677" cy="14264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15968" y="3200400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920_cell16_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8209" y="3255264"/>
            <a:ext cx="2101677" cy="142646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65007" y="3200400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920_cell16_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7249" y="3255264"/>
            <a:ext cx="2101677" cy="1426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6928" y="48097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0.01  -&gt;  38.64%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48097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0.001  -&gt;  47.68%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7" y="48097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0.0001  -&gt;  52.64%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0.0001 wins on both accuracy and loss. At 0.001 the model peaks by epoch 12 then diverges to a loss of 2.87.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10 - Batch size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16 / 32 / 64 / 128 at the selected learning 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24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641" y="1618488"/>
            <a:ext cx="2128621" cy="144475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364992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24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705" y="1618488"/>
            <a:ext cx="2128621" cy="14447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63056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920_cell24_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3769" y="1618488"/>
            <a:ext cx="2128621" cy="14447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61119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920_cell24_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1833" y="1618488"/>
            <a:ext cx="2128621" cy="144475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920_cell24_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41" y="3246120"/>
            <a:ext cx="2128621" cy="144475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64992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920_cell24_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5705" y="3246120"/>
            <a:ext cx="2128621" cy="144475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163056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920_cell24_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906" y="3246120"/>
            <a:ext cx="2156346" cy="1444751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961119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920_cell24_1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1833" y="3246120"/>
            <a:ext cx="2128621" cy="14447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16 -&gt; 50.58%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32 -&gt; 50.92%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6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64 -&gt; 52.04%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128 -&gt; 52.52%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Accuracy improved at every step. Batch 16 reached 94% training accuracy and a validation loss of 3.42.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11 - Optimizer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Adam at 0.0001 against SGD at 0.01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31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9403"/>
            <a:ext cx="4032504" cy="28300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0176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32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1832842"/>
            <a:ext cx="4032504" cy="28631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36608" y="1572768"/>
            <a:ext cx="22037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71092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76104" y="1773936"/>
            <a:ext cx="13807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Adam 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31136"/>
            <a:ext cx="16550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52.78% against 49.28%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Min val loss 1.3932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against 1.4807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Peaks at epoch 31;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SGD is still climbing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at epoch 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learning rates differ on purpose: Adam normalises its steps, so matched rates would cripple SGD.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12 - Regularization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Dropout 0.3, Early Stopping and L2 against an unregularized baseline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40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90248"/>
            <a:ext cx="4032504" cy="25483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0176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41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1963138"/>
            <a:ext cx="4032504" cy="26025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36608" y="1572768"/>
            <a:ext cx="22037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71092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76104" y="1773936"/>
            <a:ext cx="13807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Dropout 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31136"/>
            <a:ext cx="16550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54.16% accuracy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Gap 32.11%  -&gt;  4.47%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Val loss 1.3022,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lowest of the four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Early Stopping 51.72%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L2 52.30%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Dropout is the only technique that closes the gap rather than trimming it. L2 barely moves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13 - Batch Normalization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The same network, with and without BatchNorm after each Dense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48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90248"/>
            <a:ext cx="4032504" cy="25483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0176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49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1963138"/>
            <a:ext cx="4032504" cy="26025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36608" y="1572768"/>
            <a:ext cx="22037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71092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76104" y="1773936"/>
            <a:ext cx="13807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It backfired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31136"/>
            <a:ext cx="16550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Train 99.20%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Validation 40.70%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Gap 58.50%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Final val loss 4.4448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Best val accuracy fell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from 53.18% to 44.64%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clearest demonstration in the project that high training accuracy is not evidence of a good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14 - Ablation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One variable removed, everything else identical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69494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55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478" y="1682496"/>
            <a:ext cx="4954339" cy="31638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99248" y="1572768"/>
            <a:ext cx="3941063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7356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38744" y="1773936"/>
            <a:ext cx="3118103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Dropout does the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8" y="2231136"/>
            <a:ext cx="339242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Final validation accuracy 54.40% against 51.04%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Gap 4.74% against 30.76%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99248" y="3355848"/>
            <a:ext cx="3941063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973568" y="3657600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38744" y="3557016"/>
            <a:ext cx="3118103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And the peak as 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4014215"/>
            <a:ext cx="339242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Best validation accuracy 54.62% with Dropout,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52.84% without: 89 images out of 5,000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Dropout raises the peak and closes the gap at the same time. It is the regularizer carried into the final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Parts 15-16 - Final model and test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3 x 512, Adam 0.0001, batch 128, Dropout 0.3, Early Stopping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93192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61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19" y="1682496"/>
            <a:ext cx="3540137" cy="31638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81728" y="1572768"/>
            <a:ext cx="338328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5604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21224" y="177393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Per-class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2231136"/>
            <a:ext cx="283464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ship  0.66            frog  0.59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automobile  0.66     truck  0.59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airplane  0.61       deer  0.47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horse  0.60         dog  0.43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                              bird  0.43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                              cat  0.36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157276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2220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22208" y="213969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54.08%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265176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test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94392" y="157276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68712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68712" y="213969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53.99%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68712" y="265176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weighted F1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335584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522208" y="3657600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22208" y="392277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1.2815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test loss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94392" y="335584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268712" y="3657600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68712" y="392277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2.1M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443484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parameters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test set was opened exactly once, after every architecture and hyperparameter decision was final.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17 - Where it fails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The mistakes are concentrated between visually similar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7498079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64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766" y="1682496"/>
            <a:ext cx="6370402" cy="31638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47888" y="1572768"/>
            <a:ext cx="339242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2220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87384" y="1773936"/>
            <a:ext cx="25694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Hardest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22208" y="2231136"/>
            <a:ext cx="28437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cat  35.96% F1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bird  42.51%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dog  42.82%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3355848"/>
            <a:ext cx="339242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22208" y="3657600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87384" y="3557016"/>
            <a:ext cx="25694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Easiest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4014215"/>
            <a:ext cx="28437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ship  66.08% F1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automobile  65.58%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airplane  61.38%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Cat and dog account for 383 errors between them, the largest confusion pair in the matrix.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Extra - Data augmentation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Random flip and shift, applied before the image is flattened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1206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69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8547"/>
            <a:ext cx="4901183" cy="167172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70448" y="1572768"/>
            <a:ext cx="32918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6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75" y="2221753"/>
            <a:ext cx="3072384" cy="20853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45168" y="1572768"/>
            <a:ext cx="229514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61948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84664" y="1773936"/>
            <a:ext cx="147218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biggest 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9488" y="2231136"/>
            <a:ext cx="1746503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No augmentation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52.84%,  gap 0.4085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Flip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54.92%,  gap 0.3631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Flip + Shift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59.12%,  gap 0.0791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+6.28 points and the gap nearly closed. The strongest single result in the project, and it cost no parameters.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What moved the needle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Six findings that shaped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7" y="1847088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07568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1401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Depth did almost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74320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0.76 points across 1, 3 and 5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57276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90288" y="1847088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07568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1401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Width is where the parameters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4320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the first layer holds 75% of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57276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39327" y="1847088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7" y="207568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41401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Every architecture overfit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74320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training 82%, validation 52%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1012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41247" y="3584448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81304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15137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Regularization beat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48056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Dropout closed the gap 32% to 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31012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590288" y="3584448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90288" y="381304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15137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BatchNorm made it worse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448056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99.20% train, 40.70% validation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31012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339327" y="3584448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9327" y="381304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415137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Augmentation won outright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7" y="448056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59.12%, the best score recorded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constraint in the brief mattered more to the final number than any hyperparameter chosen after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20 - Why this needs a CNN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The ceiling is architectural, not a tuning failure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7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flattening destroys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32 x 32 x 3  becomes  3,072 x 1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All pixel values survive, but their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arrangement does not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model never learns that two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pixels are neighbours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9028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that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Edges, corners and textures have to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be relearned at every position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 cat three pixels to the left is 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different input vector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This is why cat and dog collapse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into each other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72768"/>
            <a:ext cx="35753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3932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04504" y="1773936"/>
            <a:ext cx="27523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a CNN gives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231136"/>
            <a:ext cx="30266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same filter applied everywhere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Local patterns learned once and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reused across the image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Hierarchical features, from edges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to shapes to objects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Position no longer matters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Our augmentation result points the same way: the fix was more spatial variety, not more parameters.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9B7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32720" y="3017520"/>
            <a:ext cx="420624" cy="42062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64240" y="3520440"/>
            <a:ext cx="256032" cy="25603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9B78F7"/>
                </a:solidFill>
                <a:latin typeface="IBM Plex Sans"/>
              </a:rPr>
              <a:t>WHAT WE TOOK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84831"/>
            <a:ext cx="85953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522CBA"/>
                </a:solidFill>
                <a:latin typeface="IBM Plex Sans"/>
              </a:rPr>
              <a:t>The architecture set the ceiling,</a:t>
            </a:r>
          </a:p>
          <a:p>
            <a:pPr algn="l"/>
            <a:r>
              <a:rPr sz="3800" b="1">
                <a:solidFill>
                  <a:srgbClr val="522CBA"/>
                </a:solidFill>
                <a:latin typeface="IBM Plex Sans"/>
              </a:rPr>
              <a:t>not the hyperparameters.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3063240" cy="13258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8992" y="427939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451713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Hardest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84632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telling a real gain from validation-set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4023360"/>
            <a:ext cx="3063240" cy="13258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325112" y="4279392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5112" y="451713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Best judgement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484632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selecting on the gap once accuracy tied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023360"/>
            <a:ext cx="3063240" cy="13258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71231" y="427939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71231" y="451713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Next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484632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start with augmentation, not with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17920"/>
            <a:ext cx="877824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522CBA"/>
                </a:solidFill>
                <a:latin typeface="IBM Plex Sans"/>
              </a:rPr>
              <a:t>Khalid</a:t>
            </a:r>
            <a:r>
              <a:rPr lang="en-US" sz="1300" b="1" dirty="0">
                <a:solidFill>
                  <a:srgbClr val="522CBA"/>
                </a:solidFill>
                <a:latin typeface="IBM Plex Sans"/>
              </a:rPr>
              <a:t> </a:t>
            </a:r>
            <a:r>
              <a:rPr sz="1300" b="1" dirty="0">
                <a:solidFill>
                  <a:srgbClr val="522CBA"/>
                </a:solidFill>
                <a:latin typeface="IBM Plex Sans"/>
              </a:rPr>
              <a:t>·  </a:t>
            </a:r>
            <a:r>
              <a:rPr lang="en-US" sz="1300" b="1" dirty="0">
                <a:solidFill>
                  <a:srgbClr val="522CBA"/>
                </a:solidFill>
                <a:latin typeface="IBM Plex Sans"/>
              </a:rPr>
              <a:t>Wasan</a:t>
            </a:r>
            <a:endParaRPr sz="1300" b="1" dirty="0">
              <a:solidFill>
                <a:srgbClr val="522CBA"/>
              </a:solidFill>
              <a:latin typeface="IBM Plex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1324</Words>
  <Application>Microsoft Office PowerPoint</Application>
  <PresentationFormat>Widescreen</PresentationFormat>
  <Paragraphs>261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Airbnb Listings: Exploratory Data Analysis</dc:title>
  <dc:subject>PptxGenJS Presentation</dc:subject>
  <dc:creator>Khalid Al Dosari</dc:creator>
  <cp:lastModifiedBy>KHALID ABDULLAH ALI ALDOSARI</cp:lastModifiedBy>
  <cp:revision>2</cp:revision>
  <dcterms:created xsi:type="dcterms:W3CDTF">2026-07-30T14:13:04Z</dcterms:created>
  <dcterms:modified xsi:type="dcterms:W3CDTF">2026-08-22T14:34:47Z</dcterms:modified>
</cp:coreProperties>
</file>